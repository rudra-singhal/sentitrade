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a25c045515414b" /><Relationship Type="http://schemas.openxmlformats.org/officeDocument/2006/relationships/extended-properties" Target="/docProps/app.xml" Id="R4c76eaf4e7d842b5" /><Relationship Type="http://schemas.openxmlformats.org/officeDocument/2006/relationships/officeDocument" Target="/ppt/presentation.xml" Id="Rcd3e0863d4d0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c59ea9ccd74050"/>
  </p:sldMasterIdLst>
  <p:notesMasterIdLst>
    <p:notesMasterId xmlns:r="http://schemas.openxmlformats.org/officeDocument/2006/relationships" r:id="R06e592409456444a"/>
  </p:notesMasterIdLst>
  <p:sldIdLst>
    <p:sldId xmlns:r="http://schemas.openxmlformats.org/officeDocument/2006/relationships" id="256" r:id="R9c001e857683409c"/>
    <p:sldId xmlns:r="http://schemas.openxmlformats.org/officeDocument/2006/relationships" id="257" r:id="Rb7ced06cd86b4c59"/>
    <p:sldId xmlns:r="http://schemas.openxmlformats.org/officeDocument/2006/relationships" id="258" r:id="Rcd250de3ea2848b0"/>
    <p:sldId xmlns:r="http://schemas.openxmlformats.org/officeDocument/2006/relationships" id="259" r:id="R17a45845b2464030"/>
    <p:sldId xmlns:r="http://schemas.openxmlformats.org/officeDocument/2006/relationships" id="260" r:id="R4c08346834e0422e"/>
    <p:sldId xmlns:r="http://schemas.openxmlformats.org/officeDocument/2006/relationships" id="261" r:id="Re0d243d1ca214bb2"/>
    <p:sldId xmlns:r="http://schemas.openxmlformats.org/officeDocument/2006/relationships" id="262" r:id="Re669c47633734082"/>
    <p:sldId xmlns:r="http://schemas.openxmlformats.org/officeDocument/2006/relationships" id="263" r:id="Rde0abc0f69f04a5a"/>
    <p:sldId xmlns:r="http://schemas.openxmlformats.org/officeDocument/2006/relationships" id="264" r:id="R010676d3466c4c57"/>
    <p:sldId xmlns:r="http://schemas.openxmlformats.org/officeDocument/2006/relationships" id="265" r:id="Rf53ffcffa0eb4f80"/>
    <p:sldId xmlns:r="http://schemas.openxmlformats.org/officeDocument/2006/relationships" id="266" r:id="R722e144baac64c49"/>
    <p:sldId xmlns:r="http://schemas.openxmlformats.org/officeDocument/2006/relationships" id="267" r:id="R8cf68276a2a84ce0"/>
    <p:sldId xmlns:r="http://schemas.openxmlformats.org/officeDocument/2006/relationships" id="268" r:id="R55ae0710d58c4914"/>
    <p:sldId xmlns:r="http://schemas.openxmlformats.org/officeDocument/2006/relationships" id="269" r:id="Rbd46e1098c604bbb"/>
    <p:sldId xmlns:r="http://schemas.openxmlformats.org/officeDocument/2006/relationships" id="270" r:id="R6039512417c643b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59ea9ccd74050" /><Relationship Type="http://schemas.openxmlformats.org/officeDocument/2006/relationships/theme" Target="/ppt/theme/theme1.xml" Id="R2f95313d9c504537" /><Relationship Type="http://schemas.openxmlformats.org/officeDocument/2006/relationships/notesMaster" Target="/ppt/notesMasters/notesMaster1.xml" Id="R06e592409456444a" /><Relationship Type="http://schemas.openxmlformats.org/officeDocument/2006/relationships/presProps" Target="/ppt/presProps.xml" Id="R7a301349487b42c8" /><Relationship Type="http://schemas.openxmlformats.org/officeDocument/2006/relationships/viewProps" Target="/ppt/viewProps.xml" Id="R712a4211ec6445d0" /><Relationship Type="http://schemas.openxmlformats.org/officeDocument/2006/relationships/tableStyles" Target="/ppt/tableStyles.xml" Id="Rdcbf436ed88f41e4" /><Relationship Type="http://schemas.openxmlformats.org/officeDocument/2006/relationships/slide" Target="/ppt/slides/slide1.xml" Id="R9c001e857683409c" /><Relationship Type="http://schemas.openxmlformats.org/officeDocument/2006/relationships/slide" Target="/ppt/slides/slide2.xml" Id="Rb7ced06cd86b4c59" /><Relationship Type="http://schemas.openxmlformats.org/officeDocument/2006/relationships/slide" Target="/ppt/slides/slide3.xml" Id="Rcd250de3ea2848b0" /><Relationship Type="http://schemas.openxmlformats.org/officeDocument/2006/relationships/slide" Target="/ppt/slides/slide4.xml" Id="R17a45845b2464030" /><Relationship Type="http://schemas.openxmlformats.org/officeDocument/2006/relationships/slide" Target="/ppt/slides/slide5.xml" Id="R4c08346834e0422e" /><Relationship Type="http://schemas.openxmlformats.org/officeDocument/2006/relationships/slide" Target="/ppt/slides/slide6.xml" Id="Re0d243d1ca214bb2" /><Relationship Type="http://schemas.openxmlformats.org/officeDocument/2006/relationships/slide" Target="/ppt/slides/slide7.xml" Id="Re669c47633734082" /><Relationship Type="http://schemas.openxmlformats.org/officeDocument/2006/relationships/slide" Target="/ppt/slides/slide8.xml" Id="Rde0abc0f69f04a5a" /><Relationship Type="http://schemas.openxmlformats.org/officeDocument/2006/relationships/slide" Target="/ppt/slides/slide9.xml" Id="R010676d3466c4c57" /><Relationship Type="http://schemas.openxmlformats.org/officeDocument/2006/relationships/slide" Target="/ppt/slides/slide10.xml" Id="Rf53ffcffa0eb4f80" /><Relationship Type="http://schemas.openxmlformats.org/officeDocument/2006/relationships/slide" Target="/ppt/slides/slide11.xml" Id="R722e144baac64c49" /><Relationship Type="http://schemas.openxmlformats.org/officeDocument/2006/relationships/slide" Target="/ppt/slides/slide12.xml" Id="R8cf68276a2a84ce0" /><Relationship Type="http://schemas.openxmlformats.org/officeDocument/2006/relationships/slide" Target="/ppt/slides/slide13.xml" Id="R55ae0710d58c4914" /><Relationship Type="http://schemas.openxmlformats.org/officeDocument/2006/relationships/slide" Target="/ppt/slides/slide14.xml" Id="Rbd46e1098c604bbb" /><Relationship Type="http://schemas.openxmlformats.org/officeDocument/2006/relationships/slide" Target="/ppt/slides/slide15.xml" Id="R6039512417c6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14aa97e4a63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9a17b632574185" /><Relationship Type="http://schemas.openxmlformats.org/officeDocument/2006/relationships/notesMaster" Target="/ppt/notesMasters/notesMaster1.xml" Id="R367961b4afb340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62cf6be5b94774" /><Relationship Type="http://schemas.openxmlformats.org/officeDocument/2006/relationships/notesMaster" Target="/ppt/notesMasters/notesMaster1.xml" Id="R442514faf37d4d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deca1017c7444d" /><Relationship Type="http://schemas.openxmlformats.org/officeDocument/2006/relationships/notesMaster" Target="/ppt/notesMasters/notesMaster1.xml" Id="Rec89820790b841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f90e77f69a4902" /><Relationship Type="http://schemas.openxmlformats.org/officeDocument/2006/relationships/notesMaster" Target="/ppt/notesMasters/notesMaster1.xml" Id="Rdc0896fcbbaa47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32deb184694af8" /><Relationship Type="http://schemas.openxmlformats.org/officeDocument/2006/relationships/notesMaster" Target="/ppt/notesMasters/notesMaster1.xml" Id="R471768cffba5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34afc472db4522" /><Relationship Type="http://schemas.openxmlformats.org/officeDocument/2006/relationships/notesMaster" Target="/ppt/notesMasters/notesMaster1.xml" Id="R15e93700cde6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592f6339b845c9" /><Relationship Type="http://schemas.openxmlformats.org/officeDocument/2006/relationships/notesMaster" Target="/ppt/notesMasters/notesMaster1.xml" Id="R9256da67cfa649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62b25cbcf141e7" /><Relationship Type="http://schemas.openxmlformats.org/officeDocument/2006/relationships/notesMaster" Target="/ppt/notesMasters/notesMaster1.xml" Id="R4429a594ef184a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e0ede7793447db" /><Relationship Type="http://schemas.openxmlformats.org/officeDocument/2006/relationships/notesMaster" Target="/ppt/notesMasters/notesMaster1.xml" Id="R4d7b13e5fa9c4e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1600139be341ab" /><Relationship Type="http://schemas.openxmlformats.org/officeDocument/2006/relationships/notesMaster" Target="/ppt/notesMasters/notesMaster1.xml" Id="R3f29b632475b49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b9d6eb4ed6455f" /><Relationship Type="http://schemas.openxmlformats.org/officeDocument/2006/relationships/notesMaster" Target="/ppt/notesMasters/notesMaster1.xml" Id="R0dc210a133bd49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5f048b07984138" /><Relationship Type="http://schemas.openxmlformats.org/officeDocument/2006/relationships/notesMaster" Target="/ppt/notesMasters/notesMaster1.xml" Id="R042fd18d02f644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b8d2fdb7f048cb" /><Relationship Type="http://schemas.openxmlformats.org/officeDocument/2006/relationships/notesMaster" Target="/ppt/notesMasters/notesMaster1.xml" Id="R982b9d6b9a8546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a7ea7b51c94492" /><Relationship Type="http://schemas.openxmlformats.org/officeDocument/2006/relationships/notesMaster" Target="/ppt/notesMasters/notesMaster1.xml" Id="Rd06f7ae348244d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7c9360260449eb" /><Relationship Type="http://schemas.openxmlformats.org/officeDocument/2006/relationships/notesMaster" Target="/ppt/notesMasters/notesMaster1.xml" Id="R43cf0c6d008b4c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d46d0be70406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88966fe7c34f13" /><Relationship Type="http://schemas.openxmlformats.org/officeDocument/2006/relationships/slideLayout" Target="/ppt/slideLayouts/slideLayout2.xml" Id="Racdcf3af4d0e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cf3af4d0e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c9f889095341d0" /><Relationship Type="http://schemas.openxmlformats.org/officeDocument/2006/relationships/notesSlide" Target="/ppt/notesSlides/notesSlide1.xml" Id="R8248cee176d04e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622d80d9f34d93" /><Relationship Type="http://schemas.openxmlformats.org/officeDocument/2006/relationships/notesSlide" Target="/ppt/notesSlides/notesSlide2.xml" Id="Ra8c0acd88f41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7f73cfa2f401e" /><Relationship Type="http://schemas.openxmlformats.org/officeDocument/2006/relationships/notesSlide" Target="/ppt/notesSlides/notesSlide3.xml" Id="Reb0633da8cd049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00829e0cf4761" /><Relationship Type="http://schemas.openxmlformats.org/officeDocument/2006/relationships/notesSlide" Target="/ppt/notesSlides/notesSlide4.xml" Id="R7754fa7784a944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0811a0b64449f" /><Relationship Type="http://schemas.openxmlformats.org/officeDocument/2006/relationships/notesSlide" Target="/ppt/notesSlides/notesSlide5.xml" Id="R1d1458c6dc5147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ee264a1e2c47eb" /><Relationship Type="http://schemas.openxmlformats.org/officeDocument/2006/relationships/notesSlide" Target="/ppt/notesSlides/notesSlide6.xml" Id="R4926080ac88c4f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846bc968c432b" /><Relationship Type="http://schemas.openxmlformats.org/officeDocument/2006/relationships/notesSlide" Target="/ppt/notesSlides/notesSlide7.xml" Id="Rbc956bb7d31b42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61a240d888474c" /><Relationship Type="http://schemas.openxmlformats.org/officeDocument/2006/relationships/notesSlide" Target="/ppt/notesSlides/notesSlide8.xml" Id="R000fc890491243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7dbf26ad774111" /><Relationship Type="http://schemas.openxmlformats.org/officeDocument/2006/relationships/chart" Target="/ppt/slides/charts/chart1.xml" Id="Rbcffaeb7427b4a56" /><Relationship Type="http://schemas.openxmlformats.org/officeDocument/2006/relationships/notesSlide" Target="/ppt/notesSlides/notesSlide9.xml" Id="Ra682881dba3e45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8f4a0a09d44e90" /><Relationship Type="http://schemas.openxmlformats.org/officeDocument/2006/relationships/notesSlide" Target="/ppt/notesSlides/notesSlide10.xml" Id="Rf0c988ad9f484b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88fe984bdb40ae" /><Relationship Type="http://schemas.openxmlformats.org/officeDocument/2006/relationships/notesSlide" Target="/ppt/notesSlides/notesSlide11.xml" Id="R80d0d1e782c949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efbdbd0d90426b" /><Relationship Type="http://schemas.openxmlformats.org/officeDocument/2006/relationships/notesSlide" Target="/ppt/notesSlides/notesSlide12.xml" Id="R433e7e2252174f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0368ce63e746cb" /><Relationship Type="http://schemas.openxmlformats.org/officeDocument/2006/relationships/notesSlide" Target="/ppt/notesSlides/notesSlide13.xml" Id="Rd922111ac4e440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e4694e442c4601" /><Relationship Type="http://schemas.openxmlformats.org/officeDocument/2006/relationships/notesSlide" Target="/ppt/notesSlides/notesSlide14.xml" Id="Rdcead5e71dcb48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318d5cd7bb4a55" /><Relationship Type="http://schemas.openxmlformats.org/officeDocument/2006/relationships/notesSlide" Target="/ppt/notesSlides/notesSlide15.xml" Id="R8cce8e8dc54c402d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Sentiment percent over selected window</a:t>
            </a:r>
          </a:p>
        </c:rich>
      </c:tx>
      <c:overlay val="0"/>
    </c:title>
    <c:autoTitleDeleted val="0"/>
    <c:plotArea>
      <c:layout/>
      <c:lineChart>
        <c:ser>
          <c:idx val="0"/>
          <c:order val="0"/>
          <c:tx>
            <c:v>BTC sentiment_percent</c:v>
          </c:tx>
          <c:cat>
            <c:strLit>
              <c:ptCount val="6"/>
              <c:pt idx="0">
                <c:v>T-5</c:v>
              </c:pt>
              <c:pt idx="1">
                <c:v>T-4</c:v>
              </c:pt>
              <c:pt idx="2">
                <c:v>T-3</c:v>
              </c:pt>
              <c:pt idx="3">
                <c:v>T-2</c:v>
              </c:pt>
              <c:pt idx="4">
                <c:v>T-1</c:v>
              </c:pt>
              <c:pt idx="5">
                <c:v>Now</c:v>
              </c:pt>
            </c:strLit>
          </c:cat>
          <c:val>
            <c:numLit>
              <c:formatCode/>
              <c:ptCount val="6"/>
              <c:pt idx="0">
                <c:v>51</c:v>
              </c:pt>
              <c:pt idx="1">
                <c:v>55</c:v>
              </c:pt>
              <c:pt idx="2">
                <c:v>61</c:v>
              </c:pt>
              <c:pt idx="3">
                <c:v>58</c:v>
              </c:pt>
              <c:pt idx="4">
                <c:v>66</c:v>
              </c:pt>
              <c:pt idx="5">
                <c:v>63</c:v>
              </c:pt>
            </c:numLit>
          </c:val>
          <c:smooth val="0"/>
        </c:ser>
        <c:ser>
          <c:idx val="1"/>
          <c:order val="1"/>
          <c:tx>
            <c:v>Price move index</c:v>
          </c:tx>
          <c:cat>
            <c:strLit>
              <c:ptCount val="6"/>
              <c:pt idx="0">
                <c:v>T-5</c:v>
              </c:pt>
              <c:pt idx="1">
                <c:v>T-4</c:v>
              </c:pt>
              <c:pt idx="2">
                <c:v>T-3</c:v>
              </c:pt>
              <c:pt idx="3">
                <c:v>T-2</c:v>
              </c:pt>
              <c:pt idx="4">
                <c:v>T-1</c:v>
              </c:pt>
              <c:pt idx="5">
                <c:v>Now</c:v>
              </c:pt>
            </c:strLit>
          </c:cat>
          <c:val>
            <c:numLit>
              <c:formatCode/>
              <c:ptCount val="6"/>
              <c:pt idx="0">
                <c:v>48</c:v>
              </c:pt>
              <c:pt idx="1">
                <c:v>50</c:v>
              </c:pt>
              <c:pt idx="2">
                <c:v>54</c:v>
              </c:pt>
              <c:pt idx="3">
                <c:v>57</c:v>
              </c:pt>
              <c:pt idx="4">
                <c:v>56</c:v>
              </c:pt>
              <c:pt idx="5">
                <c:v>61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4F8B3-CF76-406D-95C3-5B507D3C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5D2B0-DC13-4D87-AA11-D00383FD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962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BTP PROJECT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83D9D-F7D1-4BC6-BB12-077BA2F8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23900"/>
            <a:ext cx="464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React | Express | MongoDB | Socket.io | VADER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3C5895F-6758-416C-881E-2A540B92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66497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080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1080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SentiTrade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C0A70-A2EB-4B26-A3DB-0AB2FD2A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FF62D-AF68-427E-B895-22E9FD39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863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FFF"/>
          </a:solidFill>
          <a:ln xmlns:a="http://schemas.openxmlformats.org/drawingml/2006/main" w="0">
            <a:solidFill>
              <a:srgbClr val="42C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5FBE0-BAA8-4036-8257-5D77DAC6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FEED6-35D7-4076-984C-4A8333AA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244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10FA7-D87A-4C68-897C-F2E845FB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372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255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An explainable trading-intelligence surface that turns market price action and news sentiment into a live, auditable signal.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498DE-881A-4972-8CBA-A829911C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53300"/>
            <a:ext cx="1317879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6077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B9669-2E5C-409A-B3F0-5B870E6E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429500"/>
            <a:ext cx="102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MARKET NOISE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2A9B8-81B8-4113-9857-D61BB175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73914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104C0-FFB7-483D-8669-AF2B972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079" y="7353300"/>
            <a:ext cx="1317879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37F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AA0FB-3FA3-4233-936F-6226D27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429500"/>
            <a:ext cx="1028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HEADLINE NLP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9BC2B-A5D6-4098-8970-D99A760B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3914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7F294-94EE-4731-81D5-9449BE9A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008" y="7353300"/>
            <a:ext cx="1231868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42C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4E814-BF2E-4B0E-8FEA-25CD0FAE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4295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42CFFF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42CFFF"/>
                </a:solidFill>
                <a:latin typeface="Menlo"/>
                <a:ea typeface="Menlo"/>
                <a:cs typeface="Menlo"/>
              </a:rPr>
              <a:t>CORRELATION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2D95D-0223-496A-A740-7F02CE9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3914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45761-AD84-4921-B68A-2900DD74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926" y="7353300"/>
            <a:ext cx="1747933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49B5F-2EEC-42C7-A6AA-9B98D1E9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429500"/>
            <a:ext cx="1466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BUY / SELL / 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3CE13-B7C8-4649-A40E-4B282299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2152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Assets: BTC, ETH, AAPL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6370-A968-47F2-B16E-855EA6B3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9315450"/>
            <a:ext cx="3124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Socket snapshot every 30 seconds</a:t>
            </a:r>
          </a:p>
        </p:txBody>
      </p:sp>
    </p:spTree>
    <p:extLst>
      <p:ext uri="{BB962C8B-B14F-4D97-AF65-F5344CB8AC3E}">
        <p14:creationId xmlns:p14="http://schemas.microsoft.com/office/powerpoint/2010/main" val="17755362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CCF2D-C9C4-4D60-A9E5-A20FA44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180F3-92F8-411C-A449-7BD232A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C0503-75D4-4121-A454-AACA7D37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F395-5F29-4E14-A75F-0720118D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EC7AC4-FF42-4AE0-A8F8-73479CA2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What SentiTrade Is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774DA910-B0D5-4FBF-9C3E-EB40E1D8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209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 real-time market sentiment dashboard that fuses live charts, headline NLP, correlation analytics, and an explainable trading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A1F55-D5AE-447E-B4A3-85FC580D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83248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540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540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One screen. Two signals. One traceable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6D51C-FAE4-4581-A954-FFE4ED8E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83248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1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dashboard collapses the trader's context-switching loop: TradingView price action, NewsAPI headlines, VADER sentiment scores, trend aggregation, market metrics, and a rule-scored BUY / SELL / HOLD signal.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3FE05-D879-49F5-8BFD-283700BD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34" y="3698367"/>
            <a:ext cx="7999667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92AC7-FC98-49D9-AB1B-D82ACE9D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67150"/>
            <a:ext cx="758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Live price pane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87073-1061-4B02-A14D-BF74D5BB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719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TradingView widget for BTC, ETH, and AAPL.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FE05D-3613-4780-AFF4-2FB623B1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34" y="4713161"/>
            <a:ext cx="7999667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2163F-D6D2-4D43-AE24-2BBD5CE5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76800"/>
            <a:ext cx="758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NLP sentiment pane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B5A2A-C3AA-46A5-A842-95AEB6B9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816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VADER compound scores transformed into percent + label.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C4E8E-D1F4-4793-8ED5-BF20C848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34" y="5727954"/>
            <a:ext cx="7999667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32BF5-DF43-4F4A-AA1A-68B6EEC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905500"/>
            <a:ext cx="758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Correlation pane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FA309-C00D-45DE-B598-53EAB3B4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1912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Sentiment-change and price-change compared in the same time window.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0A47A-4FCC-41D7-92E2-103A7D16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34" y="6742748"/>
            <a:ext cx="7999667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9F15C-1CBB-4463-8CFD-E661A71C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915150"/>
            <a:ext cx="758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Signal pane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E9A50-B129-4516-BA9B-8C274146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21995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Transparent score, confidence, reasons[], and disclaimer.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940A1-0008-419E-80D2-C25A028A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0957E-E6CE-4976-AE68-66F4D5E2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1918671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28F8B-63B5-4E84-BA97-9C9645C9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C7333-3DF3-473A-A4EB-668283D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C5EC8-F888-4FE8-A106-262E583A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9AF55-E5BF-4D3F-A45D-5BE440A4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507337-824F-4DED-BC01-084234D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The Friction It Removes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D5FF797-247F-4768-A810-26171B4B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0820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project is not trying to predict the market. It is compressing multiple noisy inputs into an explainable decision-support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EFC63-73AF-4576-BCB9-FF092C1C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A8CCC-7287-436C-9822-EFEBCCF7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7067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EB408-E82B-4A49-A5C3-2F8106E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8641"/>
            <a:ext cx="7515138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D7DF4-AD02-4034-8D7E-3FD621FD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Chart tab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51B42-779F-47BB-8F55-A607FF05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708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Price action is visible but has no narrative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E114C-8E8E-47AA-876D-42C22BB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2485"/>
            <a:ext cx="7515138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8C93A-A09A-45C5-B599-1B02C597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News tab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F6B07-C342-4DD6-8851-576FCCCB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708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Headlines are noisy, unstructured, and hard to quantify.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3F3C0-DEA6-4BAF-83A1-695CF6FA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36328"/>
            <a:ext cx="7515138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E2E19-5AF7-4AC7-B030-3A62E81C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103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Manual bias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54C2F-7797-49E8-8B64-E619B964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915150"/>
            <a:ext cx="708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Trader mentally combines momentum, news tone, and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DD86A-5C9C-4E00-A1BF-45CFC029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29250"/>
            <a:ext cx="72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50EFA-D3BE-4F46-96C4-2BCABE6B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76900"/>
            <a:ext cx="137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fuse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6CC78-B86D-4B24-B5D8-EEC42DD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767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7A1AF-0F0A-429C-A486-6F11F09E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0500"/>
            <a:ext cx="7067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AFTER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364F1-2E05-40C0-84CF-DC32EA5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962" y="4368641"/>
            <a:ext cx="7515138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71079-FC3E-4640-8E85-0E462DD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339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Unified trading surface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06A11-59C4-4A78-A6AE-BA2A699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38700"/>
            <a:ext cx="708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Chart, gauge, news, trend, metrics, alert, and signal together.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427BF-FB30-459D-8131-C05A2A1A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962" y="5402485"/>
            <a:ext cx="7515138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853FAB-CE02-45C2-90B9-FD2B5EA9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816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Quantified narrative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EA660-4392-4677-BC38-6686427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867400"/>
            <a:ext cx="708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Headline stream becomes sentiment score, label, and aggregate trend.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51A38-391D-4555-ABA8-91A275DC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962" y="6436328"/>
            <a:ext cx="7515138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15DE5-D7AB-48C6-AEFC-37406BC0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6103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Auditable bias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67222-CE32-4ABB-A559-6141D5F7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915150"/>
            <a:ext cx="708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Signal exposes rule score, confidence, and the reasons behind the call.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28EA0-2AE8-4DB3-84EC-59C8C8F9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8CAB7-BB7E-4C34-9A5C-866F2526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5790951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7F6F5F-CC89-4A93-94EC-5CD06975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0731C-FCB9-46BE-9885-D501F8E5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AD6C6-B221-4301-96C0-405EDA0C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2052-65CD-4E81-B2F8-59F60E5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52EB6-0C7C-4890-A304-A10BA4E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Signal Journey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E4E1EBA-CB8B-40DD-8F55-77975274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1506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user experience follows a single path: select an asset, request intelligence, receive a live signal, inspect the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11D67-53F0-4908-9BDA-F18129C3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5285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031B5-BDE7-4DBA-87D0-146A6FC1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243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1. 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54FCE-F650-4B0E-B2D5-ABC9307F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291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asset +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019F6-5574-4B4C-8DDA-83F03769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11E1F-9994-49F4-BB14-19ABF0B3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75285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AFF00-D747-42D9-925E-21E34198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2. Fetch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425FB-BEA1-4AA9-82BC-8F23A95A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REST snapshot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4C91C-21EA-4DBD-A77A-D8B11055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576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79202-10C1-4A4C-A76E-1E299D86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375285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D019D-50FA-4D75-A47E-A30A7907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9243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3.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14CCC-7A51-43ED-82E3-C689A47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2291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headline NLP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58CCD-E623-431C-A1E9-994B26BA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43450"/>
            <a:ext cx="514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95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D70CC-AC17-44A2-9D2B-8BCF0414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18160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FA50D-08CF-4D87-9551-ABE3875B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5305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4. Compare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DA403-AA69-4D1D-B0CC-A831C3F2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5785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 vs price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F1359-AD99-4820-A0AF-9BBCF373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BBF67-90F3-47A4-BD5B-9481ED7C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18160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06E25-8318-48BE-B785-6F0B7BC2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5. Infer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27221-241B-4FFE-83C9-06DEFEB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BUY / SELL / HOLD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6E3DB8-843D-48B4-94AD-0D803F83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864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ACC8C-2CFE-4A04-A65E-1928361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181600"/>
            <a:ext cx="3676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1D2AEF-4A75-4387-BCB8-7B5FB918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5305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6. 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310C8-B339-4325-A15D-DCE088D6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5785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confidence + reasons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8AFB74-1E31-4D43-A293-93FDACA6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37363"/>
            <a:ext cx="16840200" cy="117348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FA4F01-8B48-403E-81B4-00C48F0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4370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00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defRPr>
            </a:pPr>
            <a:r>
              <a:rPr sz="300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rPr>
              <a:t>Core demo 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2B890-51C2-4105-91D9-068FA80A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1314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0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250" b="0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SentiTrade does not hide behind a black box; every signal is backed by visible headline mix, sentiment momentum, price move, and correlation regime.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AC838E-A810-4127-9328-B177DD9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AEB6FD-6158-43AC-9BF2-7F334F88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20598034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4A583-39B3-43F2-83BD-A4D0279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E4239-16FE-4D89-ACA3-57F383BE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075E0-54B2-4FD7-9E7A-268A35B5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5B893-3D32-4B28-9761-E393F30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37DE74-CFAE-4B6A-A538-7CDBAD95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Architecture Flowchart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93436A3-7E35-41EC-89D5-93674718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2515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 React client speaks to an Express API and a Socket.io channel; backend services fan out to NLP, persistence, price data, and signal inference.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27E4E-AA7A-4B7B-9CC9-0CA3BB9E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D2D5D-72D8-443E-B6B0-7EC39CA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User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1455E-C351-4BE4-A800-06D3C00F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asset/range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7192D-9A04-4E59-8142-633D0558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4A4C9-4310-4EBC-901D-B92FD32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385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71CC0-22C4-49C6-8C4C-B1578F35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React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8E99C-6704-4740-8005-F835144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Trading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2F219-091E-4206-92D2-AAE1950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24EDA-9D9E-4058-9517-C7A919BA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385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C5A51-4799-41C1-9682-43979737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Express REST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3D4E8-0D4B-41B0-B167-7C87F603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148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/api/sentiment, /trend, /correlation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0C19D-6C64-4DC8-BFC9-21390B8E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943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6D462-F53E-4490-ADD6-331C0BCB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6385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8A222-A62F-4638-9D05-36D20604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8100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Socket.io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676A4-F973-48CF-AC2F-21F8F2FC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1148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sentiment:update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0D0CD-14A9-4F1A-99A1-D11A853D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2686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9488E-06C2-446C-A812-CD45930E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News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2D7D7-7356-41F7-BB4B-4D7A207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NewsAPI fetch +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CB77C-B832-4EA8-A8BD-89B9BBF0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4722686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1CB98-3334-4B25-8C18-86E4E99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Sentiment 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3CCD6-49D2-4F63-81CD-14BCDF27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006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VADER analyzer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48DD9-6EFD-4798-B0DB-6597D7F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22686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F6CE8-73B2-4152-8A1F-C8E8BD6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Trend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BB708-917A-41B5-A6F7-2299E34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006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Mongo minute buckets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19F11-89EF-4C33-84CC-F3AF13C0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722686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CDB666-BFE2-4D06-AADF-BFE1BE3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8958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Correlation 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F406DC-9B99-4C36-9CCF-AEDCA07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2006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delta sentiment vs delta price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8E8888-DA58-4543-BDDA-7F33E88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8429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D0D0CF-6C38-4B85-9837-57AF401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864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Price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FEDCBA-144D-4461-BE09-944CC6F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912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CoinGecko or mock series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02E161-6697-4DB7-A003-62A2473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5718429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0BD1D6-71A6-4D43-AD7E-77B785C0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8864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Signal Service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936C7E-C876-438C-846A-89E67B2E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1912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rule score + reasons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7E6BD1-143C-4725-8480-82CFEC8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718429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8D04A5-4786-4768-8902-BFF8DB5F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864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Summary Service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49CE23-433C-4E24-A95C-A9FB30A3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1912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heuristic market summary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886198-C5B2-416D-9E1B-66706830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718429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971565-590A-406D-A303-4425B764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8864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Socket Service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BCF763-4F08-45EB-A443-2BB4BE76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1912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30s snapshot loop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E927CA-1B4C-4351-8625-3CB5857F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90373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EAFF75-1B87-4A3E-9D92-CA6157DF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9532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MongoDB Atlas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087B48-F611-4802-BA1A-A0EDA9C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580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NewsSentiment persistence + unique index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DB3489-1621-4F7F-890B-98C1E0D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6790373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AF77C4-2F2F-4C36-AFB1-79292A82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9532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NewsAPI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B5E4FD-8D3A-48C0-BBF6-F512BB0C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2580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financial headline source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FCD687-3683-42BD-B771-39241FA0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790373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0B562-1581-4BDD-A843-F320549A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532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CoinGecko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179C1F-3B1F-4832-95E1-F32273D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2580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optional crypto price correlation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11F116-C9BD-4355-B088-1809032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6790373"/>
            <a:ext cx="4081463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8C818A-2D39-483B-B526-DC897854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9532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Mock Data Service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66D200-A999-49A6-91E0-A15FE07F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258050"/>
            <a:ext cx="365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demo stability when keys/APIs fail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7715D5-B6A4-4F98-964B-892D568B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9EF6BC-ACD0-4211-BC28-C5308932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2735264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2CC1C-E996-4F43-8785-0139D3BB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A98F7-DC58-4F8E-935D-D6E125F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2591C-6A3D-4448-8EC8-A0270310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748F2-1ADD-4E45-A73C-F34DE72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5ABADC-1868-437A-AE3D-C64DB75B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Backend Request Sequence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57EE71A-52D7-43BD-85CF-561C923D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1563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`/api/sentiment?asset=BTC&amp;range=1h` path builds a complete intelligence snapshot before the UI renders.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6CEFE-D798-4F69-ACCD-E0C84732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6117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790D0-0E6E-47B4-8420-B89583F5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React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EF5F9-B29E-41E8-8298-FADE4BA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GET /api/sentiment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571D8-116E-417A-BF4B-86529C9B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FFF"/>
          </a:solidFill>
          <a:ln xmlns:a="http://schemas.openxmlformats.org/drawingml/2006/main" w="0">
            <a:solidFill>
              <a:srgbClr val="42C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7DD2C-E5FF-458D-A662-5340703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6117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53DE0-A13D-43B1-A5CF-288FE246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529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Express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FE71A-5547-40B9-8DA0-19ABCB72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196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controller orchestration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FA890-7EE3-4D97-853D-FCB9AE4F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387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198CC-D84A-4611-8C61-016E67F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6117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6F151-0A5E-49E9-AC01-74D8A602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News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5428E-931B-4E15-BA25-07C0AC13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196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fetch latest headlines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097A3-A453-4650-8485-A5782768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387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58A63-B4BE-4F51-BAD1-9E03BEA3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986117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A8B3E-DC42-4FDA-9679-A93FBC43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15290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VADER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80AFE-B95A-4200-B229-02730CF4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44196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compound score + label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6AC22-125C-468C-ADD5-7E60C886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8387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CA064-ADF4-4D0A-9574-6FC87B3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7296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B93A9-190E-47B9-AC0D-770DF1F1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MongoDB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75F6C-0933-4053-8996-DE5E72B2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864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upsert headline sentiment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E0B6D-5303-4924-A7D3-65DA289F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F07FA1-E352-460D-A163-67FDD101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37296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B7E14-20AC-475E-886A-9EABB56A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0065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Correlation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65772-247E-4E42-BA60-7841E35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864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read trend + price series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132FD0-BB87-484D-81CE-7456F0E9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05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9135A0-C710-4794-8A44-B2A85C59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37296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4D075B-1777-4AF2-858E-7D92843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0065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60CA1-C130-48FA-9B5E-C232CFD8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864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score -&gt; BUY / SELL / 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B57C2A-3283-4B53-8C5D-C6646AE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905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754A85-FDF0-49A5-92F1-60A2578A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037296"/>
            <a:ext cx="4095750" cy="784479"/>
          </a:xfrm>
          <a:prstGeom xmlns:a="http://schemas.openxmlformats.org/drawingml/2006/main" prst="roundRect">
            <a:avLst>
              <a:gd name="adj" fmla="val 9713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0AEDF9-4208-466F-A503-DC130E54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200650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Response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91B6E7-46AD-49EE-98C4-E6962527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4864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news, score, signal, summary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FFF3DD-C6B1-4B23-884F-DBE10408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9055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FFF"/>
          </a:solidFill>
          <a:ln xmlns:a="http://schemas.openxmlformats.org/drawingml/2006/main" w="0">
            <a:solidFill>
              <a:srgbClr val="42C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C5B3A6-6D92-4F21-804B-860A4A3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2775"/>
            <a:ext cx="16840200" cy="1076516"/>
          </a:xfrm>
          <a:prstGeom xmlns:a="http://schemas.openxmlformats.org/drawingml/2006/main" prst="roundRect">
            <a:avLst>
              <a:gd name="adj" fmla="val 7078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4476A4-7C1D-483A-B41B-2F147BE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579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100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Promise.all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9536E4-1B86-463B-BB16-52761015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457950"/>
            <a:ext cx="13754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20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Dashboard loading runs sentiment, trend, and correlation requests in parallel; backend correlation also resolves sentiment trend and price series concurrently.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58B5F2-F94E-4D19-9C22-8F67BCE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DE1E87-2BEF-43C0-AC2D-9155E7A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8695418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C6992-0A49-4062-B089-77F0D898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225D4-7A79-4935-A084-CD90C0C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0B4A3-63B3-4042-AB94-2417EA1C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90643-B9AC-449A-BED8-ABCB161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23645B-792F-45C0-8694-16731FF0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Realtime Socket Loop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AB3AE85-7DCF-4996-A3CB-ACB00552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672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realtime path keeps the UI alive after the first REST snapshot.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A63ED-B493-4762-B373-7C66AD7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6194"/>
            <a:ext cx="8815959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04F29-28DF-4497-BEAD-7F2805B3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840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Socket connects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53A10-DE85-41D6-B677-5B36E69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840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client opens a stable Socket.io connection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53541-E3DC-46B3-98E7-E5836D4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|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5CFD6-9EB2-41D2-8404-BC510ADE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8376"/>
            <a:ext cx="8815959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973C2-FAC3-4467-A67C-540A23B7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840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asset:change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0D487-6C09-4103-9C1C-B9EFE44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840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{ asset, range } emitted on selection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A1CC0-AA1F-46BA-8FEB-5DFB2156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|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8C521-3E4B-466C-913E-0F2A0880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0557"/>
            <a:ext cx="8815959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86FC7-80DF-4559-81FF-098907F8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840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emitSnapshot()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AD57C-2909-450F-A908-BD4E0E20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840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latest sentiment + correlation + generated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DE611-9795-4384-8E2A-4287D4D4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|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B503C-05B8-4820-AE11-049A5F1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72739"/>
            <a:ext cx="8815959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A0C3D-A88F-4E23-840C-406232D5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38950"/>
            <a:ext cx="840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sentiment:update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25A36-FF4C-43B5-A16E-9524887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43750"/>
            <a:ext cx="840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UI updates gauge, news, trend, metrics, insight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8AF2F-8198-4E8F-AA89-8132BA5A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96200"/>
            <a:ext cx="228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|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F7BEA-F0FE-4B45-8569-3B375948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24920"/>
            <a:ext cx="8815959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B5FAC-B14B-46A4-88CB-77A11402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305800"/>
            <a:ext cx="840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30 second interval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5D367-E71D-4635-9FA9-341FA8F5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591550"/>
            <a:ext cx="840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same state, refreshed market snapshot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38D86-9508-4BF3-9E2B-C50A26B5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209" y="1941576"/>
            <a:ext cx="7509891" cy="7382256"/>
          </a:xfrm>
          <a:prstGeom xmlns:a="http://schemas.openxmlformats.org/drawingml/2006/main" prst="roundRect">
            <a:avLst>
              <a:gd name="adj" fmla="val 103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0576E3-6CD6-43BB-A2F4-284930E1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28850"/>
            <a:ext cx="685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30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rPr>
              <a:t>Event contract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F2C0A-B2C8-4E5E-BA75-D78A333E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socket.emit("asset:change", {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534A2E-5914-4D3A-ABCE-3400D0E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7660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42CFFF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42CFFF"/>
                </a:solidFill>
                <a:latin typeface="Menlo"/>
                <a:ea typeface="Menlo"/>
                <a:cs typeface="Menlo"/>
              </a:rPr>
              <a:t>  asset: "BTC",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0DB221-E965-418C-821E-0D2CF818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1475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  range: "1h"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5186E0-144F-4010-851F-0B90BEBC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});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B34AB-AB1B-4735-991E-0FA3B951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101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D"/>
          </a:solidFill>
          <a:ln xmlns:a="http://schemas.openxmlformats.org/drawingml/2006/main" w="0">
            <a:solidFill>
              <a:srgbClr val="2030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9C4F77-AFB9-4663-BBD4-76CF38B9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1965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socket.emit("sentiment:update", {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B8277F-8426-4AFB-ABF9-FB9EAF5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7685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  sentiment,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E8D8CE-4256-43A9-92AF-7915E8E8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A78B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A78BFA"/>
                </a:solidFill>
                <a:latin typeface="Menlo"/>
                <a:ea typeface="Menlo"/>
                <a:cs typeface="Menlo"/>
              </a:rPr>
              <a:t>  correlation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3D65A5-334A-430D-BADD-E4E28C3A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72200"/>
            <a:ext cx="685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});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15B1A1-5AB5-4AEB-A6D6-9E5C740F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A485DF-9F7A-4231-8900-E97C4362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6323855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D8376-2650-45C1-AC7A-0F4BDDEA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DF457-C7E1-4F56-8055-0282FC3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E6C03-8B74-42A3-B3DB-9F003B27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590A3-FB57-4E9B-A21F-5D782282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1D862E-7420-4EA0-959A-F4A359F2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Headline NLP Pipeline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2397281-A9A3-4F06-A1CE-71047654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7448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Raw finance headlines are converted into normalized sentiment vectors.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36B7D-DA16-4C38-8E89-38F0A08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81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E256E-342C-487A-BD4A-DA0728B9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NewsAPI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66204-D260-48A7-A258-FAB3C7D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40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q = assetConfig.query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C136A-6E47-484F-8DC0-AB90211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47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849AA-A29C-4B30-914A-374BC921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43100"/>
            <a:ext cx="281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0DD62-CE87-49B2-9A47-31F36D9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mapArticle()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D2BE1-F6D8-482C-B6F2-27A23E5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240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title/description -&gt;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BDC83-C842-490F-8613-09A38E7D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2C52E-1ADC-437E-985C-2C1302B3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81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11DE4-08AB-42B8-85D2-34DDF587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VADER polarity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FA2EC-3944-4645-B489-059820D7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240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compound fixed to 4 decimals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2D6E3-C20A-4B92-8F75-16349B41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36E5E-1E36-4993-9FC8-2B37317B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943100"/>
            <a:ext cx="281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FA7C2-D5D9-493B-84F9-6F752BEC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1145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label threshold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6E29D-DFF7-420F-9625-59C1ED3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419350"/>
            <a:ext cx="240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positive | neutral | 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C6A76-D782-4608-8EC4-FCF55DCB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2479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D1366-9D8F-4F1E-A2A6-00B6EB3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1943100"/>
            <a:ext cx="281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22DC6-1BFE-4CB9-8058-F088DF5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1145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averageSentiment()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9A26D-15CE-45A9-9BA0-C89E1140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419350"/>
            <a:ext cx="240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score_avg + score_percent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CAEF4-646F-4FE4-A9B7-060DCBAE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2570"/>
            <a:ext cx="7790974" cy="6291263"/>
          </a:xfrm>
          <a:prstGeom xmlns:a="http://schemas.openxmlformats.org/drawingml/2006/main" prst="roundRect">
            <a:avLst>
              <a:gd name="adj" fmla="val 1211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D343F-DB0B-43AA-905E-26CDC9B2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721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15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rPr>
              <a:t>Thresholds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022C8-FEAE-424E-8771-520A0BB9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compound &gt;= 0.05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F5FA2-7559-46FF-B256-F1C9C1FC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 i="0">
                <a:solidFill>
                  <a:srgbClr val="37F7A5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37F7A5"/>
                </a:solidFill>
                <a:latin typeface="Avenir Next"/>
                <a:ea typeface="Avenir Next"/>
                <a:cs typeface="Avenir Next"/>
              </a:rPr>
              <a:t>positive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8650C1-79DB-44CC-9FE6-DF518F0A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D"/>
          </a:solidFill>
          <a:ln xmlns:a="http://schemas.openxmlformats.org/drawingml/2006/main" w="0">
            <a:solidFill>
              <a:srgbClr val="203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8BAFB-A6DF-46E5-96FD-52C35BF2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91A8BA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91A8BA"/>
                </a:solidFill>
                <a:latin typeface="Menlo"/>
                <a:ea typeface="Menlo"/>
                <a:cs typeface="Menlo"/>
              </a:rPr>
              <a:t>-0.05 &lt; compound &lt; 0.05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58F59C-5691-4F3F-9377-FA846EB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 i="0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neutral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5684B2-EB5D-4DEB-886D-D5CADC79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D"/>
          </a:solidFill>
          <a:ln xmlns:a="http://schemas.openxmlformats.org/drawingml/2006/main" w="0">
            <a:solidFill>
              <a:srgbClr val="2030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FF718C-1F95-4B9F-B7A7-2EB0D12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2438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875" b="0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compound &lt;= -0.05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A9D217-B2F5-4C19-96D4-6B51693E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108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25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rPr>
              <a:t>negative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AF22BD-495B-4A07-B533-BBB4E52D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48150"/>
            <a:ext cx="8610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150" b="1" i="0">
                <a:solidFill>
                  <a:srgbClr val="42CFFF"/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42CFFF"/>
                </a:solidFill>
                <a:latin typeface="DIN Condensed"/>
                <a:ea typeface="DIN Condensed"/>
                <a:cs typeface="DIN Condensed"/>
              </a:rPr>
              <a:t>Normalized record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1C940F-1EF2-4A46-A519-4448BC03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0060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F4A33A-7151-4C29-A6DD-8DD2D77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  "text": "Bitcoin ETF inflows accelerate",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1F719B-F045-4B43-851C-98BEDEC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  "source": "CoinDesk",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FC0C9D-2A6B-44D6-9FA1-57A4E57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1505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  "sentiment_score": 0.3182,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0EAF24-0161-4948-BEC8-34E63BF0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5320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  "sentiment_label": "positive",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86BBF-45FA-4FF4-9621-7739381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9135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42CFFF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42CFFF"/>
                </a:solidFill>
                <a:latin typeface="Menlo"/>
                <a:ea typeface="Menlo"/>
                <a:cs typeface="Menlo"/>
              </a:rPr>
              <a:t>  "asset": "BTC",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C1ADE-F378-4160-A071-ACA710BE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42950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91A8BA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91A8BA"/>
                </a:solidFill>
                <a:latin typeface="Menlo"/>
                <a:ea typeface="Menlo"/>
                <a:cs typeface="Menlo"/>
              </a:rPr>
              <a:t>  "timestamp": "2026-04-26T07:00:00.000Z"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237AB2-4DBA-4E6F-BDDC-20CBD9B7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867650"/>
            <a:ext cx="861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4DFA87-48FC-4C6A-A9EB-2CAE871D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A3F067-C456-41EA-9F5D-D9373223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4931655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4D483-6E97-42F4-94DF-45774B03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ADCB8-C10A-4AE8-BFE9-0FF7098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B3EF-1F35-416C-8C0B-03AE1B9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D2346-0695-49B1-8046-BF54F46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E1D4FB-55CC-4B75-BB32-7AD2760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Persistence &amp; Aggregation Pipeline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34E1383-0F12-4B6B-9BFD-A295F7A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183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MongoDB stores event-level sentiment; the trend API emits minute-level sentiment points for Chart.js and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95DAD-2EDF-4F0C-B0BD-AFCF265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970"/>
            <a:ext cx="73723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A3022-8D7D-4FE6-922D-A3C1D39F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findOneAndUpdate()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4E5A5-D4D5-418B-BD01-5A3B3990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{ text, asset } as uniqueness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CE615-735B-4A22-BB99-066FD95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5764"/>
            <a:ext cx="73723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69171-2088-4064-B647-BC975FE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$setOnInsert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06649-16A0-4B2A-8EC1-3F232C47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prevents duplicate NewsAPI pulls from bloating the 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6CC72-A017-4F31-BA0D-06329CE8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0557"/>
            <a:ext cx="73723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40839-4FAD-4437-A90D-6BD7840A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$match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BB6D4-E4BA-4A1D-A9CD-1F0231A0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asset + timestamp &gt;= selected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36761-0E37-439C-B8AF-35A0F55F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5351"/>
            <a:ext cx="73723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079FF-4F26-47E7-830B-6D9B8DF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0080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$group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AE3A6-AD3E-4FDF-8BDD-5C417C3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70560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minute bucket + avg sentiment_score + 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27A3F-58D6-432A-BF93-DAFD429B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50144"/>
            <a:ext cx="73723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679CE-48BA-4369-ADC1-68EDEC0B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2950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$project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847D8-0579-4D70-851A-8C87E997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1525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sentiment_percent = round(((avg + 1) / 2) * 100)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1974E-9B56-4798-851F-568236E3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1576"/>
            <a:ext cx="9010650" cy="7382256"/>
          </a:xfrm>
          <a:prstGeom xmlns:a="http://schemas.openxmlformats.org/drawingml/2006/main" prst="roundRect">
            <a:avLst>
              <a:gd name="adj" fmla="val 1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6C16B-430B-466C-993B-C9950EE7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8553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2700" b="1" i="0">
                <a:solidFill>
                  <a:srgbClr val="111C24"/>
                </a:solidFill>
                <a:latin typeface="DIN Condensed"/>
                <a:ea typeface="DIN Condensed"/>
                <a:cs typeface="DIN Condensed"/>
              </a:defRPr>
            </a:pPr>
            <a:r>
              <a:rPr sz="2700" b="1" i="0">
                <a:solidFill>
                  <a:srgbClr val="111C24"/>
                </a:solidFill>
                <a:latin typeface="DIN Condensed"/>
                <a:ea typeface="DIN Condensed"/>
                <a:cs typeface="DIN Condensed"/>
              </a:rPr>
              <a:t>Trend object</a:t>
            </a:r>
          </a:p>
        </p:txBody>
      </p:sp>
      <p:graphicFrame>
        <p:nvGraphicFramePr>
          <p:cNvPr id="24" name="trend-chart"/>
          <p:cNvGraphicFramePr/>
          <p:nvPr/>
        </p:nvGraphicFramePr>
        <p:xfrm>
          <a:off xmlns:a="http://schemas.openxmlformats.org/drawingml/2006/main" x="8782050" y="2561844"/>
          <a:ext xmlns:a="http://schemas.openxmlformats.org/drawingml/2006/main" cx="8553450" cy="655243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ffaeb7427b4a56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A6F52-95E6-4F33-B4A5-761C3BD5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3CD87-2692-4064-908F-E326BDDD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4506107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492106-B59F-45C9-A669-C85E5A9A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3B09D-5B70-4185-9EBB-5E6D7D37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F6E27-3EFD-4458-A2FE-5DC3AF8B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9D222-F818-49F3-8578-31C756A3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9C6E7C-62F9-4FD0-979C-1CF44878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Correlation Engine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454D3DC-1341-4BA3-84D9-65C51961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007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system compares sentiment momentum with price movement over the same selected range.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6859F-DBD6-4617-A33A-B0FD8CEF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7C31F-3AA5-4DCE-B6DD-A6634E6D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784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SENTIMENT RAIL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7A16D-EBF4-485C-AE53-9B9E9A5A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7655"/>
            <a:ext cx="8277225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6BE33-3CE5-4145-A7C1-8F9B2951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86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getSentimentTrend(asset, range)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DDC1A-78AE-4A6A-BE2A-52F924CB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7867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points[] from Mongo aggregation or mock trend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4BA70-69F2-41AE-A44F-B6C71EF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349"/>
            <a:ext cx="8277225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46571-9D71-4297-B46C-C78A889E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786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sentiment_change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10999-52D1-4FE6-8926-77DEFE6F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7867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toPercent(lastAvg) - toPercent(firstAvg)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34D82-9C97-4C62-8C05-0DC71721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FFF"/>
          </a:solidFill>
          <a:ln xmlns:a="http://schemas.openxmlformats.org/drawingml/2006/main" w="0">
            <a:solidFill>
              <a:srgbClr val="42C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DD428-C286-4033-848B-9F6296F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784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42CFFF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42CFFF"/>
                </a:solidFill>
                <a:latin typeface="Menlo"/>
                <a:ea typeface="Menlo"/>
                <a:cs typeface="Menlo"/>
              </a:rPr>
              <a:t>PRICE 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AF495-3AA0-44E0-8DB6-5134A9C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7655"/>
            <a:ext cx="8277225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608DC-6AD8-4ED2-ABE1-00260EB4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05200"/>
            <a:ext cx="786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getPriceChange(asset, range)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C3B9C-174A-4109-892D-7254876F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10000"/>
            <a:ext cx="7867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CoinGecko when enabled, otherwise mock series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7BF79-2CD8-4C91-B145-110D34B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314349"/>
            <a:ext cx="8277225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C40F9-125E-44BD-BED0-51C946D0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0"/>
            <a:ext cx="786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price_change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1E850-9581-4D80-B0BE-C964297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81550"/>
            <a:ext cx="7867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((last - first) / first) * 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F300E-A9AB-4514-B03F-40DDFB57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4392"/>
            <a:ext cx="16840200" cy="1700022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CD29F-FBBE-48AB-8E60-232781EA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1615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150" b="1" i="0">
                <a:solidFill>
                  <a:srgbClr val="FFD166"/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FFD166"/>
                </a:solidFill>
                <a:latin typeface="DIN Condensed"/>
                <a:ea typeface="DIN Condensed"/>
                <a:cs typeface="DIN Condensed"/>
              </a:rPr>
              <a:t>Comparator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427EF4-5B2A-4EB8-B268-9FFD3075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10300"/>
            <a:ext cx="1615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aligned = abs(sentiment_change) &gt;= 2 &amp;&amp; abs(price_change) &gt;= 0.15 &amp;&amp; sameDirection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B5255-6181-45D6-8012-DD99940F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10350"/>
            <a:ext cx="1615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91A8BA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91A8BA"/>
                </a:solidFill>
                <a:latin typeface="Menlo"/>
                <a:ea typeface="Menlo"/>
                <a:cs typeface="Menlo"/>
              </a:rPr>
              <a:t>opposed = thresholds met &amp;&amp; direction differs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20CF8-E8CD-4882-901A-AE6F35A1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10164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2DBB7-B4A8-4C41-BBCF-B7F517A7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819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Positive correlation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CF7B9-3EA9-426A-9237-5626F1C7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8867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 and price moving together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44971-0B97-4603-B478-E80AFADF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7410164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0ED1F9-2855-4140-97F4-E71377D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819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Negative correlation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5EC21-BA66-45CF-BE45-4682F8E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8867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 and price diverging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12406-E45C-4EA1-A626-D101A84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7410164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8EBC1-6DAE-4D05-84FF-86B58C10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5819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Sideways regime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001111-DB86-4A04-94E9-C9733B1C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8867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both signals flat or low conviction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176204-68F9-4357-BCF1-C415E408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2C83A9-122F-4320-BF8A-B61186C2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2458473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76942A-48BE-4454-82D1-43761772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6DA0B-F1F5-4466-983C-D91F58F8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0ACA5-CE6D-46AC-90B3-DD9554E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C58B1-0D50-4C16-AC57-69AEDC2E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E12336-E1A1-403A-9E5F-3F28358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Signal Inference Pipeline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C7B96D7-4682-4068-808B-BC9294E1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902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rule engine turns visible evidence into an educational signal and confidence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6995F-6FCB-4C9B-97C0-5F1BC13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9070"/>
            <a:ext cx="8591074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4BDBD-7769-4B66-B355-4428E64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Sentiment percent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4217-08BD-49F5-998A-FD035B5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817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&gt;=62 adds +2, &lt;=38 adds -2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89734-29E1-4226-BF9E-3DE8672D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4814"/>
            <a:ext cx="8591074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5E4D8-AE49-40C6-8DE3-5199F3C5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Headline mix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92D7A-2D70-4779-9EC8-E8C318B9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817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positiveRatio and negativeRatio shape conviction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055C4-5D44-4577-BED1-C5767C4D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0557"/>
            <a:ext cx="8591074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9C64B-7D91-4834-98A4-910193F2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Momentum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3C79E-2DC2-49E5-8FFD-8095A52D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817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sentiment_change &gt;= 8 adds +2, &lt;= -8 adds -2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A7533-41F3-45E0-8807-DCDB627E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6301"/>
            <a:ext cx="8591074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CB773-2BBD-494D-8680-CB53B836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Price movement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C151A-F405-4AA0-9E3C-68984164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86550"/>
            <a:ext cx="817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price_change &gt;= 0.75 adds +1, &lt;= -0.75 adds 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A5EAF-F681-4534-8A8A-8F4175DC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2044"/>
            <a:ext cx="8591074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C4510-38DD-4D6C-91EB-55E8158A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391400"/>
            <a:ext cx="817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Correlation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B6BA4-CA61-4B57-81CC-D770AE65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77150"/>
            <a:ext cx="817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aligned bullish adds +2, aligned bearish adds -2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20A68-574D-4639-AFB4-FF216A7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224" y="4064365"/>
            <a:ext cx="7772876" cy="2001774"/>
          </a:xfrm>
          <a:prstGeom xmlns:a="http://schemas.openxmlformats.org/drawingml/2006/main" prst="roundRect">
            <a:avLst>
              <a:gd name="adj" fmla="val 3807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E44B4-9B2F-4BE3-9846-E7B812B7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43400"/>
            <a:ext cx="7124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15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rPr>
              <a:t>Decision bands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7B57D-8559-45BC-B6E2-EDD1FDB3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768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D9E95-8140-4298-8BFE-DF28131A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76800"/>
            <a:ext cx="3733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4F922-6545-453F-A50D-E2603C0A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48768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16527-9FCE-4930-89AC-7355DC95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334000"/>
            <a:ext cx="1257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SELL &lt;= -4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524D2-815D-4CA6-BF9B-89269DD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33400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HOLD -3..3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7C22A-70B8-445B-9D95-6817237F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5334000"/>
            <a:ext cx="1009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BUY &gt;=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0FF8D-0A84-4A69-A8B2-D97288EF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305550"/>
            <a:ext cx="77724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Confidence = clamp(45..92, 45 + abs(score)*7 + headlineVolume*0.6 - conflictPenalty). Reasons are capped to the top four human-readable explanations.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876B2-AF57-4711-8763-05F4EAD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05179-818F-4053-9D70-FDF1447A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15595815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AB671-9724-4A45-A33C-45440DEA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AD2E3-0FD4-4386-88A6-0345ABB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B7E9F-15DC-4D6D-89A5-2673B21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BBEBD-A1AE-485F-8D3A-E6B41011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EADB23-1F38-4D17-B641-B1A4454C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Dashboard Experience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FCA60F8-B5A8-490E-8BC4-0DBF896C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1315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UI behaves like a compact trading desk: dense enough for repeated use, still legible enough for a demo.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5C7AD-E2BA-44F8-B066-6178DF29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1576"/>
            <a:ext cx="11251406" cy="5225222"/>
          </a:xfrm>
          <a:prstGeom xmlns:a="http://schemas.openxmlformats.org/drawingml/2006/main" prst="roundRect">
            <a:avLst>
              <a:gd name="adj" fmla="val 1458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8BADD-C666-4B16-BC31-3372FE2C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171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 i="0">
                <a:solidFill>
                  <a:srgbClr val="42C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42CFFF"/>
                </a:solidFill>
                <a:latin typeface="Avenir Next"/>
                <a:ea typeface="Avenir Next"/>
                <a:cs typeface="Avenir Next"/>
              </a:rPr>
              <a:t>TradingView chart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2A524-C6FA-46ED-9BC7-6AACC2D1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3360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BTC / ETH / AAPL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AA1C6-2B2C-43FC-8502-6B1C6255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0820400" cy="44196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1821"/>
              </a:gs>
              <a:gs pos="100000">
                <a:srgbClr val="081018"/>
              </a:gs>
            </a:gsLst>
            <a:lin ang="10800000"/>
          </a:gra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A0148-FC83-4D10-8E18-B1548EB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756" y="1941576"/>
            <a:ext cx="5417344" cy="1627441"/>
          </a:xfrm>
          <a:prstGeom xmlns:a="http://schemas.openxmlformats.org/drawingml/2006/main" prst="roundRect">
            <a:avLst>
              <a:gd name="adj" fmla="val 4682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277B2-B479-4509-87A5-BE0CDA53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11455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Sentiment Gauge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29E3C-C92F-4596-AABD-8C4F55EE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19350"/>
            <a:ext cx="499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asset pulse +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F2D30-1F94-4E06-A9B1-112FF2E1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756" y="3740467"/>
            <a:ext cx="5417344" cy="1627441"/>
          </a:xfrm>
          <a:prstGeom xmlns:a="http://schemas.openxmlformats.org/drawingml/2006/main" prst="roundRect">
            <a:avLst>
              <a:gd name="adj" fmla="val 4682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A584B-7051-4A13-9CC4-16D7AEB1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90525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Correlation 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C3CBE-BE39-4D3D-A2CC-F5EE4223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10050"/>
            <a:ext cx="499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insight +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54875-E0A0-44C7-9D74-2E27E357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756" y="5539357"/>
            <a:ext cx="5417344" cy="1627441"/>
          </a:xfrm>
          <a:prstGeom xmlns:a="http://schemas.openxmlformats.org/drawingml/2006/main" prst="roundRect">
            <a:avLst>
              <a:gd name="adj" fmla="val 4682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D72A9-AF16-44DD-9724-DC64F68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715000"/>
            <a:ext cx="4991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Live News Feed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1673D-2804-40A5-AC9F-D7BE759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19800"/>
            <a:ext cx="499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scored headlines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D2202-AE52-4DC4-BE8B-EB3AEB3E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38248"/>
            <a:ext cx="11251406" cy="1985584"/>
          </a:xfrm>
          <a:prstGeom xmlns:a="http://schemas.openxmlformats.org/drawingml/2006/main" prst="roundRect">
            <a:avLst>
              <a:gd name="adj" fmla="val 3838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4417B-4B32-4A3C-B785-2B3690DC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1915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 i="0">
                <a:solidFill>
                  <a:srgbClr val="37F7A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37F7A5"/>
                </a:solidFill>
                <a:latin typeface="Avenir Next"/>
                <a:ea typeface="Avenir Next"/>
                <a:cs typeface="Avenir Next"/>
              </a:rPr>
              <a:t>Sentiment Trend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13DCF-A4C2-40D6-956E-48AC78E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92480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14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E7AC90-3F70-420D-8765-52F0FF3C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756" y="7338248"/>
            <a:ext cx="5417344" cy="1985584"/>
          </a:xfrm>
          <a:prstGeom xmlns:a="http://schemas.openxmlformats.org/drawingml/2006/main" prst="roundRect">
            <a:avLst>
              <a:gd name="adj" fmla="val 3838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00258-2FE8-4AB5-B5E2-6CA1294A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943850"/>
            <a:ext cx="499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rPr>
              <a:t>Market 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0C300-559A-4C8C-8381-ECD47EF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8324850"/>
            <a:ext cx="4991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News volume | Positive ratio | Sentiment move | Price move | Headline mix | Signal reasons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9EE9F-1E55-497E-A912-A3A8FB37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36EE5-BCC4-4E94-AC4A-02376E5D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6218662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26CD5-F829-4DD5-A6B4-E6606BF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B5CAD-EDBA-4D90-8889-A9B03E97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F84F3-F7BC-407D-A613-E75BBC0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1BE30-77B1-41BC-AF9D-EF1B031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4FEF04-EF32-4963-8CEC-5EDE05C9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API Surface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1EF5555-8053-43A7-9561-AD8B9D1C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8496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system exposes a small, demo-friendly API with clear asset/range parameters.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E271C-A359-4E8E-97C7-8360D92C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9070"/>
            <a:ext cx="82105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0E681-3540-478C-AC81-C7B72E6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GET /api/assets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44861-A532-4EDF-B1AC-99644845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supported assets: BTC, ETH, AAPL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4F989-935F-4643-A4BB-07A8E2E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4814"/>
            <a:ext cx="82105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E4FC9-7F0C-4879-9C72-FAC53E1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GET /api/sentiment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77BB0-5B07-4BFA-A5D7-403E13E9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average score, label, headlines, signal,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E7624-5807-489B-BCD5-FEAA693E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0557"/>
            <a:ext cx="82105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0B7C7-40EF-480C-A85A-CCB07CC1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GET /api/sentiment/trend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6A2E6-1555-4431-9EB5-08E44343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5m, 1h, 24h trend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AEDC2-4F80-4D5A-A16C-97C518B6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6301"/>
            <a:ext cx="82105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553D3-A0D4-43B2-B16F-66BFDF82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GET /api/correlation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76108-7DE5-4CA2-ACCF-4820BF3B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8655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sentiment_change, price_change, current_price, insight,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6AA27-C2DD-453B-A49D-C27A5F0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2044"/>
            <a:ext cx="821055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929CC-9FF8-473F-885E-D3D960B5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39140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GET /api/health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73635-DB53-43FA-B940-41A409A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77150"/>
            <a:ext cx="7791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deployment smoke-test endpoint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8CE41-DB54-490E-8997-CEDA42F4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41576"/>
            <a:ext cx="8210550" cy="7382256"/>
          </a:xfrm>
          <a:prstGeom xmlns:a="http://schemas.openxmlformats.org/drawingml/2006/main" prst="roundRect">
            <a:avLst>
              <a:gd name="adj" fmla="val 103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030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388FF-BB0B-4386-AE61-CC323065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28850"/>
            <a:ext cx="7562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315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37F7A5"/>
                </a:solidFill>
                <a:latin typeface="DIN Condensed"/>
                <a:ea typeface="DIN Condensed"/>
                <a:cs typeface="DIN Condensed"/>
              </a:rPr>
              <a:t>Response 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B959B-3DAC-498C-A2CD-0536043B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42CFFF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42CFFF"/>
                </a:solidFill>
                <a:latin typeface="Menlo"/>
                <a:ea typeface="Menlo"/>
                <a:cs typeface="Menlo"/>
              </a:rPr>
              <a:t>GET /api/correlation?asset=BTC&amp;range=1h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5E2EA-DCE4-4128-9477-28BCA06C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756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3D"/>
          </a:solidFill>
          <a:ln xmlns:a="http://schemas.openxmlformats.org/drawingml/2006/main" w="0">
            <a:solidFill>
              <a:srgbClr val="2030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BC94E-A727-4FD4-8FE5-DA6FDEB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5280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1E217-B487-433E-A8BE-9243A241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7190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  "asset": "BTC",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8BC72-5EFB-40D1-BD44-FB210CFC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7195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  "sentiment_change": 20,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6D71F-CD24-4550-B813-D78B0480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7200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42CFFF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42CFFF"/>
                </a:solidFill>
                <a:latin typeface="Menlo"/>
                <a:ea typeface="Menlo"/>
                <a:cs typeface="Menlo"/>
              </a:rPr>
              <a:t>  "price_change": 2.5,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0A398-E765-4C43-B4EA-12257718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9110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  "insight": "Positive correlation detected",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85290-44B4-4DF1-ADE6-B00F9E9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39115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  "signal": { "signal": "BUY", "confidence": 77 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0A147-41CE-43E5-918E-837278F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10250"/>
            <a:ext cx="7562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DF6FA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EDF6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56DA3-C2B7-418E-8728-67F1F75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F5694-34E6-4170-8D90-7681C28E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6010938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6F266E-F8DE-40BF-B9FE-ACAB9BC4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57A4-859C-4549-B537-FC1FD9D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E67BF-B213-4F8B-90A2-6032033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D5397-986A-48B4-97A2-73E15C70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59FA51-AC6B-4B5D-B001-F92704C8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Deployment &amp; Hardening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D19D09B-B619-433E-BBF5-589C8E6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1639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deployment story is intentionally practical: separate frontend/backend, explicit env config, and stable demo fallbacks.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41240-363E-4DAD-96F2-BD851C1E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07414-C429-4955-B40E-107A1AB9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Vercel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32885-0B41-4083-BF92-0127ACB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frontend/static Vite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C7FA6-FFB0-4593-9B22-47366CEB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2427B-BA7D-4644-9076-504EDC6D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004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B4C61-192F-4454-A853-CC0EAA49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719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Render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876D6-1C02-4F61-A2EB-7A7E2950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767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Node/Express web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B74C5-BF7D-4A24-86A4-8E8E4F4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EF4B4-590C-45A0-8C53-E1EDD5D0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004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B1AD8-E12E-4ED6-9AED-8A9A515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719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MongoDB Atlas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F6960-4C80-47A8-B392-D577729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767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managed persistence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C80A3-625B-4D1B-99C2-1B1EF570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905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D914F-653E-48ED-98ED-488F01B4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600450"/>
            <a:ext cx="3667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B5D44-57CD-41DE-B873-F64EA59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771900"/>
            <a:ext cx="3257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External APIs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413B9-D60E-4A77-B7C3-9035EED2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0767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NewsAPI + CoinGecko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62666-EEA4-4F39-B0C1-D4288CF0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0108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CBFFA-11FD-4F82-AD2D-3C6EE413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CORS allowlist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7AD3C-0AA8-44E6-8CD0-4FF75EBD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CLIENT_URL / FRONTEND_URL controls browser access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CB68A-B41E-48E4-81AB-1BCF7C13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670108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42C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E89FF-FB0F-46A3-9F7A-3D2994BD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387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Socket CORS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3D7E7-3417-4DFE-A081-EC4F1869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435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same origin policy for realtime channel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CD1F3-3F6A-44FB-B0CC-1805A8DB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4670108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B6C46-88A9-48B3-8753-2E8FE4A0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8387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helmet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852F1-A901-42CF-9243-E70A5F9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1435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security headers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D20D9D-DF75-4B12-8C5C-A4E7E99A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5851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353521-6F91-4E8A-9592-18021B81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293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compression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9BA31C-72BB-4A12-B6F2-F95EEEEA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341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lighter API responses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9D429-DECE-4E9B-84C9-A91308E1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5665851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1B88B-4C05-403A-9B58-4E6DC0BD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8293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express-rate-limit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AE498F-79B7-4AF5-9594-C71AF75F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341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default 120 requests/min on /api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F64633-33E6-45F7-8416-DEE81DB3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5665851"/>
            <a:ext cx="5499100" cy="824294"/>
          </a:xfrm>
          <a:prstGeom xmlns:a="http://schemas.openxmlformats.org/drawingml/2006/main" prst="roundRect">
            <a:avLst>
              <a:gd name="adj" fmla="val 9244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43A91D-C0F1-40E2-8752-696F210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82930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graceful shutdown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81352B-F2D6-4CF4-A463-91785F7F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1341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SIGTERM / SIGINT closes HTTP server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CEF3F-5440-45F9-BB04-F469AABC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1595"/>
            <a:ext cx="5499100" cy="1005650"/>
          </a:xfrm>
          <a:prstGeom xmlns:a="http://schemas.openxmlformats.org/drawingml/2006/main" prst="roundRect">
            <a:avLst>
              <a:gd name="adj" fmla="val 7577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7081DC-0915-4635-AD92-D81AA11F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3895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env-driven config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4FA5D6-240D-4B9E-9F97-0CB84FD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24700"/>
            <a:ext cx="5086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VITE_API_URL, VITE_SOCKET_URL, MONGODB_URI, NEWS_API_KEY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90B22E-1C5E-4AFE-A492-3E088881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6661595"/>
            <a:ext cx="5499100" cy="1005650"/>
          </a:xfrm>
          <a:prstGeom xmlns:a="http://schemas.openxmlformats.org/drawingml/2006/main" prst="roundRect">
            <a:avLst>
              <a:gd name="adj" fmla="val 7577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D13BDA-F357-423B-86E6-41C9697D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83895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mock fallback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3E8C62-A383-4B37-9FA8-C83B4433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1247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usable when MongoDB or NewsAPI are absent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D30F6C-EDEA-4BE3-A8F7-67C98E8F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6661595"/>
            <a:ext cx="5499100" cy="1005650"/>
          </a:xfrm>
          <a:prstGeom xmlns:a="http://schemas.openxmlformats.org/drawingml/2006/main" prst="roundRect">
            <a:avLst>
              <a:gd name="adj" fmla="val 7577"/>
            </a:avLst>
          </a:prstGeom>
          <a:solidFill xmlns:a="http://schemas.openxmlformats.org/drawingml/2006/main">
            <a:srgbClr val="0E171E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C117DD-84DB-47ED-9076-B0D13327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838950"/>
            <a:ext cx="5086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price opt-in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EA4E66-BF99-49FB-AFE6-2AE5DF0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124700"/>
            <a:ext cx="5086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ENABLE_LIVE_PRICE_API avoids CoinGecko noise during demos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1323EA-0CED-4E5D-B361-A3C3563C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E64976-87DF-4B61-88CD-CD76F50D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9324537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16943D-37D8-43B2-804D-AE56FDCC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70A"/>
              </a:gs>
              <a:gs pos="42000">
                <a:srgbClr val="071017"/>
              </a:gs>
              <a:gs pos="100000">
                <a:srgbClr val="06160F"/>
              </a:gs>
            </a:gsLst>
            <a:lin ang="8100000"/>
          </a:gradFill>
          <a:ln xmlns:a="http://schemas.openxmlformats.org/drawingml/2006/main" w="0">
            <a:gradFill>
              <a:gsLst>
                <a:gs pos="0">
                  <a:srgbClr val="05070A"/>
                </a:gs>
                <a:gs pos="42000">
                  <a:srgbClr val="071017"/>
                </a:gs>
                <a:gs pos="100000">
                  <a:srgbClr val="06160F"/>
                </a:gs>
              </a:gsLst>
              <a:lin ang="81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69AA5-372B-441C-AF00-48207DE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47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7F7A5"/>
              </a:gs>
              <a:gs pos="42000">
                <a:srgbClr val="42CFFF"/>
              </a:gs>
              <a:gs pos="100000">
                <a:srgbClr val="FF4D6D"/>
              </a:gs>
            </a:gsLst>
            <a:lin ang="5400000"/>
          </a:gradFill>
          <a:ln xmlns:a="http://schemas.openxmlformats.org/drawingml/2006/main" w="0">
            <a:gradFill>
              <a:gsLst>
                <a:gs pos="0">
                  <a:srgbClr val="37F7A5"/>
                </a:gs>
                <a:gs pos="42000">
                  <a:srgbClr val="42CFFF"/>
                </a:gs>
                <a:gs pos="100000">
                  <a:srgbClr val="FF4D6D"/>
                </a:gs>
              </a:gsLst>
              <a:lin ang="5400000"/>
            </a:gra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EF84D-33E0-457F-AED4-8B82E211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87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23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8898C-B109-4521-956A-2F56F7A1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356AE-DAA6-4465-9956-C33E386E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"/>
            <a:ext cx="15697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DF6FA"/>
                </a:solidFill>
                <a:latin typeface="DIN Condensed"/>
                <a:ea typeface="DIN Condensed"/>
                <a:cs typeface="DIN Condensed"/>
              </a:rPr>
              <a:t>Evaluation &amp; Next Iteration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AF3A0D0-F8C9-4CA8-AAAF-882E8FE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43000"/>
            <a:ext cx="1209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The BTP value is the complete, explainable pipeline. The upgrade path is domain-specific modeling and quantitative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A2EBB-3CDF-4DC0-A7CE-B17A0C0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37F22-6BC4-438B-A5A3-938066BD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43100"/>
            <a:ext cx="775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37F7A5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37F7A5"/>
                </a:solidFill>
                <a:latin typeface="Menlo"/>
                <a:ea typeface="Menlo"/>
                <a:cs typeface="Menlo"/>
              </a:rPr>
              <a:t>IMPLEMENTED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04B3B-D73D-49BE-8534-5F49300C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7158C-7306-4BC5-B9BC-6EC00F0A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End-to-end intelligence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E27D6-9CBE-4892-B546-7B36B608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News ingestion -&gt; NLP scoring -&gt; Mongo persistence -&gt; trend aggregation -&gt; UI visualization.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1E41F-70DB-4F0E-AF35-0DEC13B4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FFF"/>
          </a:solidFill>
          <a:ln xmlns:a="http://schemas.openxmlformats.org/drawingml/2006/main" w="0">
            <a:solidFill>
              <a:srgbClr val="42C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D7518-1276-4D69-8D38-28A13FF2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Transparent signal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D639E-E9CC-4D8B-BEDB-6360F52A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Rule score, confidence, reasons[], and disclaimer make the system viva-friendly.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6C1E0-2186-4339-9C4F-1FE8F1B2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9B8B5-D8AE-4BA6-96FD-99C934D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Realtime dashboard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68CF3-D950-431A-A73B-43407225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Socket.io keeps sentiment, correlation, trend, and metrics fresh.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340C6-FE19-4417-AE08-0DC58C67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02010-55B6-4704-8956-6AAB59A0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Demo resilience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5AB95-5520-4F21-A5DB-5529915C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Mock news and price paths avoid API-key or rate-limit failures during presentation.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0375E-F608-4CAE-83DF-C0876AD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193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FFF"/>
          </a:solidFill>
          <a:ln xmlns:a="http://schemas.openxmlformats.org/drawingml/2006/main" w="0">
            <a:solidFill>
              <a:srgbClr val="42C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A89E0-B25E-4285-8F7C-C473B80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7753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125" b="1" i="0">
                <a:solidFill>
                  <a:srgbClr val="42CFFF"/>
                </a:solidFill>
                <a:latin typeface="Menlo"/>
                <a:ea typeface="Menlo"/>
                <a:cs typeface="Menlo"/>
              </a:defRPr>
            </a:pPr>
            <a:r>
              <a:rPr sz="1125" b="1" i="0">
                <a:solidFill>
                  <a:srgbClr val="42CFFF"/>
                </a:solidFill>
                <a:latin typeface="Menlo"/>
                <a:ea typeface="Menlo"/>
                <a:cs typeface="Menlo"/>
              </a:rPr>
              <a:t>FUTURE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63767-CB4A-4776-A56A-25CB2044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F7A5"/>
          </a:solidFill>
          <a:ln xmlns:a="http://schemas.openxmlformats.org/drawingml/2006/main" w="0">
            <a:solidFill>
              <a:srgbClr val="37F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15DC0-9DF4-4D90-B45D-857C36F2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FinBERT-style sentiment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F6E1A-20DD-458A-824C-97B78C31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289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Replace generic VADER with finance-domain transformer sentiment.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F8904-519E-4A1F-981C-32A64EBF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CCAD7-6092-4C67-8543-A16491A9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Backtesting module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52B60-D727-443D-992C-EA9EF69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718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Replay historical news and price windows to evaluate signal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47E1F-6490-4AFC-978A-0E2B3EE9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90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9D718-D250-4878-A83B-5993A437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9095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Risk engine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3B863-0D34-4BA9-BDE8-B6009B9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148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Add volatility, drawdown, exposure, and position-sizing constraints.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E666C-8F0D-493D-8ACA-7DADEC3C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33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4DFE6-EB64-4E97-A136-0A403B52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33900"/>
            <a:ext cx="7924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Broker sandbox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6940C6-1A62-4A47-B193-C0D84E1A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577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91A8BA"/>
                </a:solidFill>
                <a:latin typeface="Avenir Next"/>
                <a:ea typeface="Avenir Next"/>
                <a:cs typeface="Avenir Next"/>
              </a:rPr>
              <a:t>Simulate order execution while preserving educational boundaries.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9AAC78-AD3D-42EE-9A0D-75B5DDF3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05216"/>
            <a:ext cx="16840200" cy="1118616"/>
          </a:xfrm>
          <a:prstGeom xmlns:a="http://schemas.openxmlformats.org/drawingml/2006/main" prst="roundRect">
            <a:avLst>
              <a:gd name="adj" fmla="val 681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11430">
            <a:solidFill>
              <a:srgbClr val="37F7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5AC65E-B63E-4832-A36A-EE3C2F2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39150"/>
            <a:ext cx="16154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325" b="0" i="0">
                <a:solidFill>
                  <a:srgbClr val="EDF6FA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 i="0">
                <a:solidFill>
                  <a:srgbClr val="EDF6FA"/>
                </a:solidFill>
                <a:latin typeface="Avenir Next"/>
                <a:ea typeface="Avenir Next"/>
                <a:cs typeface="Avenir Next"/>
              </a:rPr>
              <a:t>Final thesis: SentiTrade is an explainable market-sentiment intelligence layer that converts fragmented trading context into a realtime, auditable decision-support signal.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EBB716-D8BE-4641-A994-CF0AEE06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771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AD0D8-9155-47EE-A217-BB572840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9620250"/>
            <a:ext cx="4648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 i="0">
                <a:solidFill>
                  <a:srgbClr val="607789"/>
                </a:solidFill>
                <a:latin typeface="Menlo"/>
                <a:ea typeface="Menlo"/>
                <a:cs typeface="Menlo"/>
              </a:defRPr>
            </a:pPr>
            <a:r>
              <a:rPr sz="1050" b="0" i="0">
                <a:solidFill>
                  <a:srgbClr val="607789"/>
                </a:solidFill>
                <a:latin typeface="Menlo"/>
                <a:ea typeface="Menlo"/>
                <a:cs typeface="Menlo"/>
              </a:rPr>
              <a:t>real-time sentiment intelligence | educational signal only</a:t>
            </a:r>
          </a:p>
        </p:txBody>
      </p:sp>
    </p:spTree>
    <p:extLst>
      <p:ext uri="{BB962C8B-B14F-4D97-AF65-F5344CB8AC3E}">
        <p14:creationId xmlns:p14="http://schemas.microsoft.com/office/powerpoint/2010/main" val="340110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2026-04-26T09:03:11.4830000Z</dcterms:created>
  <dcterms:modified xsi:type="dcterms:W3CDTF">2026-04-26T09:03:11.4830000Z</dcterms:modified>
</coreProperties>
</file>