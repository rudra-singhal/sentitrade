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545d158d8b4488d" /><Relationship Type="http://schemas.openxmlformats.org/officeDocument/2006/relationships/extended-properties" Target="/docProps/app.xml" Id="R5efe1ea3e14b4aaf" /><Relationship Type="http://schemas.openxmlformats.org/officeDocument/2006/relationships/officeDocument" Target="/ppt/presentation.xml" Id="Rd4ab9c5a21f84f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26e259f4abc4e52"/>
  </p:sldMasterIdLst>
  <p:notesMasterIdLst>
    <p:notesMasterId xmlns:r="http://schemas.openxmlformats.org/officeDocument/2006/relationships" r:id="Rc6f69a0701524ac6"/>
  </p:notesMasterIdLst>
  <p:sldIdLst>
    <p:sldId xmlns:r="http://schemas.openxmlformats.org/officeDocument/2006/relationships" id="256" r:id="R40ee271757394188"/>
    <p:sldId xmlns:r="http://schemas.openxmlformats.org/officeDocument/2006/relationships" id="257" r:id="R7356b2a217f040d1"/>
    <p:sldId xmlns:r="http://schemas.openxmlformats.org/officeDocument/2006/relationships" id="258" r:id="Rc05006049a954f09"/>
    <p:sldId xmlns:r="http://schemas.openxmlformats.org/officeDocument/2006/relationships" id="259" r:id="R271fa2ea041d45b0"/>
    <p:sldId xmlns:r="http://schemas.openxmlformats.org/officeDocument/2006/relationships" id="260" r:id="R46fb120752cd4733"/>
    <p:sldId xmlns:r="http://schemas.openxmlformats.org/officeDocument/2006/relationships" id="261" r:id="Rcf96bfc36f6b418e"/>
    <p:sldId xmlns:r="http://schemas.openxmlformats.org/officeDocument/2006/relationships" id="262" r:id="R4b1dc6b423124a2a"/>
    <p:sldId xmlns:r="http://schemas.openxmlformats.org/officeDocument/2006/relationships" id="263" r:id="R22d29cff5f444e97"/>
    <p:sldId xmlns:r="http://schemas.openxmlformats.org/officeDocument/2006/relationships" id="264" r:id="Rd271d58db1a14a1c"/>
    <p:sldId xmlns:r="http://schemas.openxmlformats.org/officeDocument/2006/relationships" id="265" r:id="R3d3cb27d6ffb4e21"/>
    <p:sldId xmlns:r="http://schemas.openxmlformats.org/officeDocument/2006/relationships" id="266" r:id="R3bc634a35c0c470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6e259f4abc4e52" /><Relationship Type="http://schemas.openxmlformats.org/officeDocument/2006/relationships/theme" Target="/ppt/theme/theme1.xml" Id="R6d51fa29d05f4259" /><Relationship Type="http://schemas.openxmlformats.org/officeDocument/2006/relationships/notesMaster" Target="/ppt/notesMasters/notesMaster1.xml" Id="Rc6f69a0701524ac6" /><Relationship Type="http://schemas.openxmlformats.org/officeDocument/2006/relationships/presProps" Target="/ppt/presProps.xml" Id="R414f95472cde4749" /><Relationship Type="http://schemas.openxmlformats.org/officeDocument/2006/relationships/viewProps" Target="/ppt/viewProps.xml" Id="R777c43aebced439b" /><Relationship Type="http://schemas.openxmlformats.org/officeDocument/2006/relationships/tableStyles" Target="/ppt/tableStyles.xml" Id="R7906973123db406f" /><Relationship Type="http://schemas.openxmlformats.org/officeDocument/2006/relationships/slide" Target="/ppt/slides/slide1.xml" Id="R40ee271757394188" /><Relationship Type="http://schemas.openxmlformats.org/officeDocument/2006/relationships/slide" Target="/ppt/slides/slide2.xml" Id="R7356b2a217f040d1" /><Relationship Type="http://schemas.openxmlformats.org/officeDocument/2006/relationships/slide" Target="/ppt/slides/slide3.xml" Id="Rc05006049a954f09" /><Relationship Type="http://schemas.openxmlformats.org/officeDocument/2006/relationships/slide" Target="/ppt/slides/slide4.xml" Id="R271fa2ea041d45b0" /><Relationship Type="http://schemas.openxmlformats.org/officeDocument/2006/relationships/slide" Target="/ppt/slides/slide5.xml" Id="R46fb120752cd4733" /><Relationship Type="http://schemas.openxmlformats.org/officeDocument/2006/relationships/slide" Target="/ppt/slides/slide6.xml" Id="Rcf96bfc36f6b418e" /><Relationship Type="http://schemas.openxmlformats.org/officeDocument/2006/relationships/slide" Target="/ppt/slides/slide7.xml" Id="R4b1dc6b423124a2a" /><Relationship Type="http://schemas.openxmlformats.org/officeDocument/2006/relationships/slide" Target="/ppt/slides/slide8.xml" Id="R22d29cff5f444e97" /><Relationship Type="http://schemas.openxmlformats.org/officeDocument/2006/relationships/slide" Target="/ppt/slides/slide9.xml" Id="Rd271d58db1a14a1c" /><Relationship Type="http://schemas.openxmlformats.org/officeDocument/2006/relationships/slide" Target="/ppt/slides/slide10.xml" Id="R3d3cb27d6ffb4e21" /><Relationship Type="http://schemas.openxmlformats.org/officeDocument/2006/relationships/slide" Target="/ppt/slides/slide11.xml" Id="R3bc634a35c0c47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8e041544c9a4a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6d347bc99f4244" /><Relationship Type="http://schemas.openxmlformats.org/officeDocument/2006/relationships/notesMaster" Target="/ppt/notesMasters/notesMaster1.xml" Id="R8fae27af33794a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347c38c36d3434f" /><Relationship Type="http://schemas.openxmlformats.org/officeDocument/2006/relationships/notesMaster" Target="/ppt/notesMasters/notesMaster1.xml" Id="Rf28b81a5c73c4a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9cae829d3e64457" /><Relationship Type="http://schemas.openxmlformats.org/officeDocument/2006/relationships/notesMaster" Target="/ppt/notesMasters/notesMaster1.xml" Id="Rc38ed8373e1343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caa4c2c071f4426" /><Relationship Type="http://schemas.openxmlformats.org/officeDocument/2006/relationships/notesMaster" Target="/ppt/notesMasters/notesMaster1.xml" Id="R0e0058fcf2ad480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9784b925aa4487" /><Relationship Type="http://schemas.openxmlformats.org/officeDocument/2006/relationships/notesMaster" Target="/ppt/notesMasters/notesMaster1.xml" Id="Rf84a5a54d12d44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9055a1451c4207" /><Relationship Type="http://schemas.openxmlformats.org/officeDocument/2006/relationships/notesMaster" Target="/ppt/notesMasters/notesMaster1.xml" Id="Rbb7d7109502d496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de42f8b19ea4af8" /><Relationship Type="http://schemas.openxmlformats.org/officeDocument/2006/relationships/notesMaster" Target="/ppt/notesMasters/notesMaster1.xml" Id="Rca8b077806c048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7c1498a76c49d1" /><Relationship Type="http://schemas.openxmlformats.org/officeDocument/2006/relationships/notesMaster" Target="/ppt/notesMasters/notesMaster1.xml" Id="Rf06d53927e4a438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f8c72dec0d4285" /><Relationship Type="http://schemas.openxmlformats.org/officeDocument/2006/relationships/notesMaster" Target="/ppt/notesMasters/notesMaster1.xml" Id="R5dd0f287fd7e41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b194e07de24f6b" /><Relationship Type="http://schemas.openxmlformats.org/officeDocument/2006/relationships/notesMaster" Target="/ppt/notesMasters/notesMaster1.xml" Id="Rc1bd91c1dee745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c8cfb6ff5b7498d" /><Relationship Type="http://schemas.openxmlformats.org/officeDocument/2006/relationships/notesMaster" Target="/ppt/notesMasters/notesMaster1.xml" Id="R1d6b1c74abe749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a9590a88642c1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2eda1cb7e684af9" /><Relationship Type="http://schemas.openxmlformats.org/officeDocument/2006/relationships/slideLayout" Target="/ppt/slideLayouts/slideLayout2.xml" Id="Rbb0e7161c88243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0e7161c88243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971139c0a94d19" /><Relationship Type="http://schemas.openxmlformats.org/officeDocument/2006/relationships/notesSlide" Target="/ppt/notesSlides/notesSlide1.xml" Id="R98d5cbc14dfd4b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6ed7849fa54d6b" /><Relationship Type="http://schemas.openxmlformats.org/officeDocument/2006/relationships/notesSlide" Target="/ppt/notesSlides/notesSlide2.xml" Id="R8465a116f48c4b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4d371dfcbe4a15" /><Relationship Type="http://schemas.openxmlformats.org/officeDocument/2006/relationships/notesSlide" Target="/ppt/notesSlides/notesSlide3.xml" Id="R376b4828f6fc44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811226ed6240d0" /><Relationship Type="http://schemas.openxmlformats.org/officeDocument/2006/relationships/notesSlide" Target="/ppt/notesSlides/notesSlide4.xml" Id="R934eca73d4f8493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5cf45c20194a96" /><Relationship Type="http://schemas.openxmlformats.org/officeDocument/2006/relationships/notesSlide" Target="/ppt/notesSlides/notesSlide5.xml" Id="R1f7d92781fa34d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cb621371404af7" /><Relationship Type="http://schemas.openxmlformats.org/officeDocument/2006/relationships/chart" Target="/ppt/slides/charts/chart1.xml" Id="R2cda2636d9ca433c" /><Relationship Type="http://schemas.openxmlformats.org/officeDocument/2006/relationships/notesSlide" Target="/ppt/notesSlides/notesSlide6.xml" Id="R2c5e11dce8ea43f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ec77a0a5d54831" /><Relationship Type="http://schemas.openxmlformats.org/officeDocument/2006/relationships/notesSlide" Target="/ppt/notesSlides/notesSlide7.xml" Id="R8bc6a931187b4c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d0e5252985d4643" /><Relationship Type="http://schemas.openxmlformats.org/officeDocument/2006/relationships/notesSlide" Target="/ppt/notesSlides/notesSlide8.xml" Id="R9e1babb882554fc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6ba966f25e8485c" /><Relationship Type="http://schemas.openxmlformats.org/officeDocument/2006/relationships/notesSlide" Target="/ppt/notesSlides/notesSlide9.xml" Id="R028c6fc286124e3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f69a11aad34d06" /><Relationship Type="http://schemas.openxmlformats.org/officeDocument/2006/relationships/notesSlide" Target="/ppt/notesSlides/notesSlide10.xml" Id="R09613c1e1aa14c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65db3f45ba4ab2" /><Relationship Type="http://schemas.openxmlformats.org/officeDocument/2006/relationships/notesSlide" Target="/ppt/notesSlides/notesSlide11.xml" Id="R9dfa4caff33144c7" /></Relationships>
</file>

<file path=ppt/slides/charts/chart1.xml><?xml version="1.0" encoding="utf-8"?>
<c:chartSpace xmlns:c="http://schemas.openxmlformats.org/drawingml/2006/chart">
  <c:lang val="en-US"/>
  <c:roundedCorners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/>
              <a:t>Sentiment percent over selected window</a:t>
            </a:r>
          </a:p>
        </c:rich>
      </c:tx>
      <c:overlay val="0"/>
    </c:title>
    <c:autoTitleDeleted val="0"/>
    <c:plotArea>
      <c:layout/>
      <c:lineChart>
        <c:ser>
          <c:idx val="0"/>
          <c:order val="0"/>
          <c:tx>
            <c:v>BTC sentiment_percent</c:v>
          </c:tx>
          <c:cat>
            <c:strLit>
              <c:ptCount val="6"/>
              <c:pt idx="0">
                <c:v>T-5</c:v>
              </c:pt>
              <c:pt idx="1">
                <c:v>T-4</c:v>
              </c:pt>
              <c:pt idx="2">
                <c:v>T-3</c:v>
              </c:pt>
              <c:pt idx="3">
                <c:v>T-2</c:v>
              </c:pt>
              <c:pt idx="4">
                <c:v>T-1</c:v>
              </c:pt>
              <c:pt idx="5">
                <c:v>Now</c:v>
              </c:pt>
            </c:strLit>
          </c:cat>
          <c:val>
            <c:numLit>
              <c:formatCode/>
              <c:ptCount val="6"/>
              <c:pt idx="0">
                <c:v>52</c:v>
              </c:pt>
              <c:pt idx="1">
                <c:v>56</c:v>
              </c:pt>
              <c:pt idx="2">
                <c:v>60</c:v>
              </c:pt>
              <c:pt idx="3">
                <c:v>58</c:v>
              </c:pt>
              <c:pt idx="4">
                <c:v>64</c:v>
              </c:pt>
              <c:pt idx="5">
                <c:v>63</c:v>
              </c:pt>
            </c:numLit>
          </c:val>
          <c:smooth val="0"/>
        </c:ser>
        <c:ser>
          <c:idx val="1"/>
          <c:order val="1"/>
          <c:tx>
            <c:v>ETH sentiment_percent</c:v>
          </c:tx>
          <c:cat>
            <c:strLit>
              <c:ptCount val="6"/>
              <c:pt idx="0">
                <c:v>T-5</c:v>
              </c:pt>
              <c:pt idx="1">
                <c:v>T-4</c:v>
              </c:pt>
              <c:pt idx="2">
                <c:v>T-3</c:v>
              </c:pt>
              <c:pt idx="3">
                <c:v>T-2</c:v>
              </c:pt>
              <c:pt idx="4">
                <c:v>T-1</c:v>
              </c:pt>
              <c:pt idx="5">
                <c:v>Now</c:v>
              </c:pt>
            </c:strLit>
          </c:cat>
          <c:val>
            <c:numLit>
              <c:formatCode/>
              <c:ptCount val="6"/>
              <c:pt idx="0">
                <c:v>49</c:v>
              </c:pt>
              <c:pt idx="1">
                <c:v>50</c:v>
              </c:pt>
              <c:pt idx="2">
                <c:v>54</c:v>
              </c:pt>
              <c:pt idx="3">
                <c:v>57</c:v>
              </c:pt>
              <c:pt idx="4">
                <c:v>55</c:v>
              </c:pt>
              <c:pt idx="5">
                <c:v>59</c:v>
              </c:pt>
            </c:numLit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73D817-6C50-4D8B-9DCC-963021A6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70A0E"/>
              </a:gs>
              <a:gs pos="50000">
                <a:srgbClr val="0B1720"/>
              </a:gs>
              <a:gs pos="100000">
                <a:srgbClr val="061D16"/>
              </a:gs>
            </a:gsLst>
            <a:lin ang="7200000"/>
          </a:gradFill>
          <a:ln xmlns:a="http://schemas.openxmlformats.org/drawingml/2006/main" w="0">
            <a:gradFill>
              <a:gsLst>
                <a:gs pos="0">
                  <a:srgbClr val="070A0E"/>
                </a:gs>
                <a:gs pos="50000">
                  <a:srgbClr val="0B1720"/>
                </a:gs>
                <a:gs pos="100000">
                  <a:srgbClr val="061D16"/>
                </a:gs>
              </a:gsLst>
              <a:lin ang="7200000"/>
            </a:gra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5D25D6-2445-4BD7-B096-75D4A47F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5800"/>
            <a:ext cx="2400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6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16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BTP PROJECT DEFENSE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D92BE-DB6C-4DDB-91CD-7E044965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819150"/>
            <a:ext cx="44767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0" i="0">
                <a:solidFill>
                  <a:srgbClr val="8EA4B8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8EA4B8"/>
                </a:solidFill>
                <a:latin typeface="Menlo"/>
                <a:ea typeface="Menlo"/>
                <a:cs typeface="Menlo"/>
              </a:rPr>
              <a:t>Real-Time Market Sentiment Intelligence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5D51FBA-16FD-468F-8B43-41971C9F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552950" cy="243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86000"/>
              </a:lnSpc>
              <a:buNone/>
              <a:defRPr sz="111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111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SentiTrade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C3D5CE-AD79-4672-887C-B29CED759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6255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BB3999-5E08-4C13-801A-F936A6A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106870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40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240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A real-time dashboard that fuses price action, headline sentiment, correlation analytics, and transparent BUY / SELL / HOLD signal generation.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0622E-9011-40DE-BAB9-D00C93C7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581900"/>
            <a:ext cx="158105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4CC9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54919-E42C-429D-8093-87532018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6581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4CC9F0"/>
                </a:solidFill>
                <a:latin typeface="Menlo"/>
                <a:ea typeface="Menlo"/>
                <a:cs typeface="Menlo"/>
              </a:rPr>
              <a:t>PRICE ACTION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1FE646-365D-4AF0-8B6A-7AB7C6750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7505700"/>
            <a:ext cx="266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9A869A-6FEB-4C56-806D-5E7ACCB12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3627" y="7581900"/>
            <a:ext cx="168421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45FF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4249D-F955-4F46-966E-2FDF62A8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765810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NLP SENTIMENT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ADDAF6-2F9D-43C3-B95A-EF0FEB82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7505700"/>
            <a:ext cx="266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D71E7-0208-444B-9D06-647D61D4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4110" y="7581900"/>
            <a:ext cx="2199989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C87D6-4F46-4792-A7B6-2AD59C1D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7658100"/>
            <a:ext cx="18478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FFD166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FFD166"/>
                </a:solidFill>
                <a:latin typeface="Menlo"/>
                <a:ea typeface="Menlo"/>
                <a:cs typeface="Menlo"/>
              </a:rPr>
              <a:t>CORRELATION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B239E-339A-4FF1-8838-0DFEC150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505700"/>
            <a:ext cx="2667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8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F98501-E2EF-465E-A4CE-2223E64A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372" y="7581900"/>
            <a:ext cx="1581055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B3C252-BC6C-4F64-B6F4-7B8533D38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7658100"/>
            <a:ext cx="12382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FF4D6D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FF4D6D"/>
                </a:solidFill>
                <a:latin typeface="Menlo"/>
                <a:ea typeface="Menlo"/>
                <a:cs typeface="Menlo"/>
              </a:rPr>
              <a:t>TRADE SIGNAL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C8B012-72C8-49AD-BEAF-744C1F57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410700"/>
            <a:ext cx="4248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5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Crypto + Stock Assets: BTC, ETH, AAPL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6F278C-E65F-4500-93B2-E25D54A3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9410700"/>
            <a:ext cx="51625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React | Express | MongoDB | Socket.io | VADER</a:t>
            </a:r>
          </a:p>
        </p:txBody>
      </p:sp>
    </p:spTree>
    <p:extLst>
      <p:ext uri="{BB962C8B-B14F-4D97-AF65-F5344CB8AC3E}">
        <p14:creationId xmlns:p14="http://schemas.microsoft.com/office/powerpoint/2010/main" val="101396180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870FE1B-3926-4B8A-9CF6-80CB4420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E"/>
          </a:solidFill>
          <a:ln xmlns:a="http://schemas.openxmlformats.org/drawingml/2006/main" w="0">
            <a:solidFill>
              <a:srgbClr val="070A0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ED551-C334-4DA4-95DD-E08373E6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25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617FBE-47CA-4F64-9EB9-8298BE6F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AB744F-3923-4F99-A895-BEBCCDDA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"/>
            <a:ext cx="15506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Problem Statement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75668BD5-3B45-44C8-A9A5-157F7A69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57300"/>
            <a:ext cx="9829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Retail traders consume price charts and market narratives through disconnected interfaces.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11576C-9D66-454A-A069-06ACE7F6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0550"/>
            <a:ext cx="7372350" cy="118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6000"/>
              </a:lnSpc>
              <a:buNone/>
              <a:def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Price action without narrative context is a low-bandwidth signal.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BB7A4-6CD0-4365-843A-E550247A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73723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10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The project attacks the information asymmetry between structured market movement and unstructured financial news.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DDE0F-EDF7-45B0-AB8E-B55CEEE0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00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39A25B-474E-4F1B-879C-3B046D0A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00500"/>
            <a:ext cx="8362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Fragmented decision surface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7BB619-8F44-48A3-AD9E-B444FB9B2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343400"/>
            <a:ext cx="8362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TradingView, headlines, market metrics, and alerts usually live in separate tabs.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89493D-959D-451F-AAC8-854E6511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577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2061C-A6DB-4293-9776-113D6E89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57750"/>
            <a:ext cx="8362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Unstructured news latency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CF4B30-80AF-434D-B69F-0E370F55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00650"/>
            <a:ext cx="8362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Headlines arrive as text streams, but the trader needs an aggregated sentiment vector.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23FA5C-42A1-437F-920F-49B40AAC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15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FF2CBB-C323-4AB7-9FBC-A4570DA5E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15000"/>
            <a:ext cx="8362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No explainable signal layer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361B1F-15D5-4C75-8E0B-0797197A3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057900"/>
            <a:ext cx="8362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Many tools show indicators, but few expose the rule trace behind BUY / SELL / HOLD.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081091-5FFF-44EF-9B33-C8545F64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572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02B7F-4956-499B-9469-27A200AA4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572250"/>
            <a:ext cx="8362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Demo stability risk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09B2E2-3CB9-4318-BCF3-569345BA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6934200"/>
            <a:ext cx="83629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Live APIs can fail during evaluation, so fallback data is part of the system design.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9C274-E6E5-4D9F-BED5-7E5AE834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23C91F-58D2-4119-9337-A3F4AB4B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935355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Educational decision-support signal, not financial advice</a:t>
            </a:r>
          </a:p>
        </p:txBody>
      </p:sp>
    </p:spTree>
    <p:extLst>
      <p:ext uri="{BB962C8B-B14F-4D97-AF65-F5344CB8AC3E}">
        <p14:creationId xmlns:p14="http://schemas.microsoft.com/office/powerpoint/2010/main" val="111082415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1E9E5D4B-9CAA-49A7-8B81-D0225F61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E"/>
          </a:solidFill>
          <a:ln xmlns:a="http://schemas.openxmlformats.org/drawingml/2006/main" w="0">
            <a:solidFill>
              <a:srgbClr val="070A0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8619CE-5A07-4015-8560-EFD9C9CA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25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AE28A-F1C1-4EEE-93D2-95CD8C35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AEB60DD-FC0A-4836-B004-C50ABE2CA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"/>
            <a:ext cx="15506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Project Objectives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3141827E-1067-4744-B2DC-0B8F6A13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57300"/>
            <a:ext cx="10496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Build an explainable market-intelligence pipeline for real-time sentiment-aware decision support.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F4ADB-3103-415A-B169-64E4A08E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2145"/>
            <a:ext cx="5422900" cy="896874"/>
          </a:xfrm>
          <a:prstGeom xmlns:a="http://schemas.openxmlformats.org/drawingml/2006/main" prst="roundRect">
            <a:avLst>
              <a:gd name="adj" fmla="val 849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CC9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78C1D-0C96-4E63-AF73-DE2C1988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Asset coverage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EB530-230E-4CB1-834A-1DC989FC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384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BTC, ETH, and AAPL as cross-market demo targets.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644DF-F3DB-4544-8247-AEA4EEB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1922145"/>
            <a:ext cx="5422900" cy="896874"/>
          </a:xfrm>
          <a:prstGeom xmlns:a="http://schemas.openxmlformats.org/drawingml/2006/main" prst="roundRect">
            <a:avLst>
              <a:gd name="adj" fmla="val 849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248404-6651-416F-8577-0F4727601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NLP scoring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839C48-9ADE-4131-B16A-6E9476A9F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384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VADER compound sentiment on latest NewsAPI headlines.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646C95-FC50-429D-9178-A57A4CF52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1922145"/>
            <a:ext cx="5422900" cy="896874"/>
          </a:xfrm>
          <a:prstGeom xmlns:a="http://schemas.openxmlformats.org/drawingml/2006/main" prst="roundRect">
            <a:avLst>
              <a:gd name="adj" fmla="val 849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FFD1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15CA1-555E-43EA-987C-95FAC282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11455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Time windows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14B6D4-2ED6-4EE9-ABEF-AEA86328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243840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Trend aggregation for 5m, 1h, and 24h analysis.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56E61B-3C37-4160-B7D7-AF2DF922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1919"/>
            <a:ext cx="5422900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B38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F9F2D9-67E2-414A-B3CB-F01BD8AC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528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Correlation analytics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D61EA-EB4C-4214-B64F-94BDA7F1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766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Compare sentiment delta with price delta over the same range.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9F44B-5D54-4854-A7C7-E4A9E742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3161919"/>
            <a:ext cx="5422900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FF4D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011A90-88C8-4203-BFE1-7BB88F62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Signal inference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3F995B-37F2-48F0-A6D2-465373CE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76650"/>
            <a:ext cx="4972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Rule-based BUY / SELL / HOLD engine with confidence and reasons.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FC794-2A1D-4235-B2F8-EF3BA248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3161919"/>
            <a:ext cx="5422900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DD7A93-1755-4010-A86C-3F169AA2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3528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Realtime UX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0D06A9-E075-47C2-A756-223C0490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3676650"/>
            <a:ext cx="4972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Socket.io event stream refreshes the market state every 30 seconds.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3272A7-C40C-4A16-A295-02C1AB65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3717"/>
            <a:ext cx="16687800" cy="1050036"/>
          </a:xfrm>
          <a:prstGeom xmlns:a="http://schemas.openxmlformats.org/drawingml/2006/main" prst="roundRect">
            <a:avLst>
              <a:gd name="adj" fmla="val 7257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596F0D-8CC9-4DDC-9FEC-94322980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45FFB3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45FFB3"/>
                </a:solidFill>
                <a:latin typeface="DIN Condensed"/>
                <a:ea typeface="DIN Condensed"/>
                <a:cs typeface="DIN Condensed"/>
              </a:rPr>
              <a:t>Scope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560232-6A0C-4D11-81A3-3CC43ED9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838700"/>
            <a:ext cx="128968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9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9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The model is deliberately heuristic and transparent. It is a decision-support dashboard, not an autonomous trading bot or predictive ML alpha model.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EFE7DD-D3C2-40E7-8B14-51166B6F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2991136-43CF-4C72-AB95-29DC10B1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935355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Educational decision-support signal, not financial advice</a:t>
            </a:r>
          </a:p>
        </p:txBody>
      </p:sp>
    </p:spTree>
    <p:extLst>
      <p:ext uri="{BB962C8B-B14F-4D97-AF65-F5344CB8AC3E}">
        <p14:creationId xmlns:p14="http://schemas.microsoft.com/office/powerpoint/2010/main" val="52338374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619B699-9BD5-42DD-9136-2BCE7D12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E"/>
          </a:solidFill>
          <a:ln xmlns:a="http://schemas.openxmlformats.org/drawingml/2006/main" w="0">
            <a:solidFill>
              <a:srgbClr val="070A0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EB043-475F-4FB6-8507-1571D1F57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25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0D2B79-A7DD-4A89-A7E0-760F074DC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F2FCEE-C5DC-4868-A187-C62CD62E6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"/>
            <a:ext cx="15506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System Architecture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22F537AA-4D95-480A-908B-6E319E02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57300"/>
            <a:ext cx="11144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SentiTrade separates the presentation layer, API layer, service layer, persistence layer, and external data providers.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AD685-F858-4806-A79A-1327DAE7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476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CC9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FD1EF-DDB7-403D-ACE1-1312E96E7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2019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User Browser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D61F1-6716-483D-A331-EC204974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48050"/>
            <a:ext cx="2019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React dashboard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533796-4FF0-470A-B37D-0BF55622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385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225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5C72D3-15B5-462D-ACAD-89F3AD58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3543" y="2933700"/>
            <a:ext cx="6418707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CC9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3D447-267E-4FF0-A1DB-C3F87AAE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124200"/>
            <a:ext cx="596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Frontend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1B6B8-56FF-4972-8EB4-6E8900FF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48050"/>
            <a:ext cx="596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Vite + Tailwind + Chart.js + TradingView widget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C13CE-B13B-453C-859A-A742522F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238500"/>
            <a:ext cx="342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25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225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951572-5750-4A2E-9EFE-7D52E936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9193" y="2933700"/>
            <a:ext cx="6418707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4701F1-ABC5-4336-94FB-F64CBCFA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124200"/>
            <a:ext cx="5962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Backend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C9E81B-B7B7-4214-ACB8-60B8022C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3448050"/>
            <a:ext cx="5962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Express REST endpoints + Socket.io server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1F6DD4-242C-404F-B088-FB838C23C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33850"/>
            <a:ext cx="16687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0">
            <a:solidFill>
              <a:srgbClr val="24324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6F0C7-56BB-40F8-B50D-F0E11DDDC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0271"/>
            <a:ext cx="4029075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1ED17F-945D-4EE1-A170-D3FF04882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4820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News 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8C3C0C-E889-4FE0-A0F5-917429DEE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97205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Fetches latest headlines and normalizes payloads.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9F7C05-18E2-4F5F-B8B8-5BC0C9E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4450271"/>
            <a:ext cx="4029075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7ED58F-C7CC-4888-99EF-F02C793C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64820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Sentiment 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CCC45-A6B5-4418-88DC-5D243F40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720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Runs VADER scoring and label classification.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6FAE94-A209-4006-8FE4-2A63F53A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50271"/>
            <a:ext cx="4029075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FFD1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C585E1-D971-44E3-8137-B4E396A1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64820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Trend Service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0A95C3-3C1D-44B1-B9F1-C2EABAA2D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97205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Aggregates sentiment by minute for charting.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68885-0D14-4274-8E57-AE093BAD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4450271"/>
            <a:ext cx="4029075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B388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64B3C-8698-48CE-85C5-0258E0A81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64820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Correlation Service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8B7714-E572-4121-AD63-955BDB08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497205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Calculates sentiment-change vs price-change.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DF97914-AB80-42BF-90AB-D25BDAE5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29669"/>
            <a:ext cx="4029075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CC9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87265D-29F3-40E9-B06A-4B5EE5D1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2455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Price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5A8F61-E777-4ADA-AB6E-0662BE1A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24840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CoinGecko crypto prices, mock fallback for stability.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A3E08F0-8339-4DC5-94AC-112C39BA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5729669"/>
            <a:ext cx="4029075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FF4D6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654C38-9FCB-4D66-9063-54A77DF6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92455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Signal Service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849BCB-BD77-4FD7-ABD0-F49BBA502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624840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Rule-score inference with confidence and reasons.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C58E42-9C4B-4D3A-B426-96257822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29669"/>
            <a:ext cx="4029075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989BEC-BFBF-4A0A-9988-93BEF675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92455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Socket Service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27CAD6-10A1-4E48-AE91-AEFC3F78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6248400"/>
            <a:ext cx="3581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Emits sentiment:update snapshots every 30 seconds.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995CFE-6275-48E1-8505-5146C97F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58825" y="5729669"/>
            <a:ext cx="4029075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FFD1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E15313-B3E2-4B11-80B1-85B64A9B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5924550"/>
            <a:ext cx="3581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Summary Service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ED01CBD-1926-4282-A6D2-BF857374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96950" y="6248400"/>
            <a:ext cx="3581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Generates AI-style heuristic market summary.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48EDD8F-C37F-4721-B0E3-3877C111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123367"/>
            <a:ext cx="5422900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38368D-EF75-45C9-A285-95F6942EE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3152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MongoDB Atlas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38AC0F3-9900-4263-B60B-42D1E8AE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639050"/>
            <a:ext cx="4972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Normalized headline sentiment records with unique text+asset index.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49576D-1203-49CE-BFE3-C1ABD8F5F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2550" y="7123367"/>
            <a:ext cx="5422900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CC9F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FDB992D-0D1D-4AF9-9611-7678D4A5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3152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NewsAPI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13F945-F10D-4244-927B-65E9703E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76390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External headline source for asset-specific market narratives.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8C01601-D418-40DD-A75B-B1DCB696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65000" y="7123367"/>
            <a:ext cx="5422900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FFD16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FF96360-1D59-416A-A076-20945E81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3152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Mock Data Layer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9DDF611-8F64-4860-BA49-C52BC22BB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639050"/>
            <a:ext cx="4972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Fault-tolerant offline/demo fallback for judging and local development.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77D7C9A-452E-485B-A520-AFB3F139D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FD53984-BE99-45FE-A726-711F42D9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935355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Educational decision-support signal, not financial advice</a:t>
            </a:r>
          </a:p>
        </p:txBody>
      </p:sp>
    </p:spTree>
    <p:extLst>
      <p:ext uri="{BB962C8B-B14F-4D97-AF65-F5344CB8AC3E}">
        <p14:creationId xmlns:p14="http://schemas.microsoft.com/office/powerpoint/2010/main" val="8220369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86BE26F9-126E-4A6B-9B9F-BC2354E03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E"/>
          </a:solidFill>
          <a:ln xmlns:a="http://schemas.openxmlformats.org/drawingml/2006/main" w="0">
            <a:solidFill>
              <a:srgbClr val="070A0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EDC10-B06B-473A-A3A3-1B25FB39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25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64B23E-D609-4833-B3BB-2F18E8EFE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19824A-C1D8-4EEF-B5F8-11C6BBDB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"/>
            <a:ext cx="15506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NLP Sentiment Pipeline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4029356-B470-4706-931A-5BD69D2A0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57300"/>
            <a:ext cx="115443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The pipeline converts unstructured financial headlines into normalized sentiment records and trend points.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0BE9A7-6484-4038-AE08-072CB3E4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855138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CC9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F9768D-DD28-4DA3-9257-5F771BB1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57450"/>
            <a:ext cx="240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1. Ingest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03DFA8-BB0B-4DD5-9F19-4E2DEF68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8130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NewsAPI asset query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159C27-4EB4-4E5D-BD43-B9023D21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5908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95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2A997A-E61C-420C-A2B2-9B77D3DB9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8266" y="2171700"/>
            <a:ext cx="2855138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D68455-7BA3-4D22-B981-163E6B24B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62200"/>
            <a:ext cx="240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2. Normalize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EA31C-4CAB-4F1D-9B35-14171D7B2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2400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headline, source, asset, timestamp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0C308-480B-4ABA-A364-25AF78012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5908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95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7FAF8-34C5-4D78-9BFA-4EFE29989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6431" y="2266950"/>
            <a:ext cx="2855138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FFD1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330AD6-292A-49FF-8F49-3E6E0D49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57450"/>
            <a:ext cx="240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3. Score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1CED8A-09C8-4B30-AC7D-3D24EC3D7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8130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VADER compound in [-1, 1]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8D7D87-7EF7-4A1A-B0ED-2CE73B4F6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5908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95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5AD877-1A11-4E45-84A7-1CC8073F6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4597" y="2266950"/>
            <a:ext cx="2855138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B388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0239FF-9FF7-4C96-9086-5E374D53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457450"/>
            <a:ext cx="240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4. Persist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B72F2-B038-43EA-85DB-B08850CD7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278130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MongoDB upsert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20E039-28B2-46E1-B18C-E03E57FF7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2590800"/>
            <a:ext cx="304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95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8AFCDF-26FE-46BC-8481-642673E63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2762" y="2266950"/>
            <a:ext cx="2855138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FF4D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6875F-CCE1-479E-9B72-B973AF2A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457450"/>
            <a:ext cx="24003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5. Aggregate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60A075-CCB6-4503-BC48-9F1AF85D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0" y="2781300"/>
            <a:ext cx="2400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minute-bucket trend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E003A0-2153-447F-B5E6-BAD7AF113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92068"/>
            <a:ext cx="7286625" cy="5375148"/>
          </a:xfrm>
          <a:prstGeom xmlns:a="http://schemas.openxmlformats.org/drawingml/2006/main" prst="roundRect">
            <a:avLst>
              <a:gd name="adj" fmla="val 1418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F8419F-98EC-4972-8FB8-7976CC95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86200"/>
            <a:ext cx="66484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VADER classification thresholds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D3293D-3BA8-457C-81E1-E288872C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19600"/>
            <a:ext cx="2381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1950" b="0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compound &gt;= 0.05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33FAA6-99A9-4510-9A6D-0A5CCC1D4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19600"/>
            <a:ext cx="9715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950" b="1" i="0">
                <a:solidFill>
                  <a:srgbClr val="45FFB3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45FFB3"/>
                </a:solidFill>
                <a:latin typeface="Avenir Next"/>
                <a:ea typeface="Avenir Next"/>
                <a:cs typeface="Avenir Next"/>
              </a:rPr>
              <a:t>positive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151E56-03D6-4C93-8551-2AA60021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876800"/>
            <a:ext cx="664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0">
            <a:solidFill>
              <a:srgbClr val="24324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625267-2EA1-4CCE-97EF-65F07737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86350"/>
            <a:ext cx="34290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8EA4B8"/>
                </a:solidFill>
                <a:latin typeface="Menlo"/>
                <a:ea typeface="Menlo"/>
                <a:cs typeface="Menlo"/>
              </a:defRPr>
            </a:pPr>
            <a:r>
              <a:rPr sz="1950" b="0" i="0">
                <a:solidFill>
                  <a:srgbClr val="8EA4B8"/>
                </a:solidFill>
                <a:latin typeface="Menlo"/>
                <a:ea typeface="Menlo"/>
                <a:cs typeface="Menlo"/>
              </a:rPr>
              <a:t>-0.05 &lt; compound &lt; 0.05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47A7DF-DCE0-4462-BEF3-C7F5DAF8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219700"/>
            <a:ext cx="857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950" b="1" i="0">
                <a:solidFill>
                  <a:srgbClr val="FFD166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D166"/>
                </a:solidFill>
                <a:latin typeface="Avenir Next"/>
                <a:ea typeface="Avenir Next"/>
                <a:cs typeface="Avenir Next"/>
              </a:rPr>
              <a:t>neutral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2D03C1-710F-4A60-A992-84CD0B46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810250"/>
            <a:ext cx="66484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0">
            <a:solidFill>
              <a:srgbClr val="24324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F72FF6-D63B-4423-9C66-284B70F9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6000750"/>
            <a:ext cx="2533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950" b="0" i="0">
                <a:solidFill>
                  <a:srgbClr val="FF4D6D"/>
                </a:solidFill>
                <a:latin typeface="Menlo"/>
                <a:ea typeface="Menlo"/>
                <a:cs typeface="Menlo"/>
              </a:defRPr>
            </a:pPr>
            <a:r>
              <a:rPr sz="1950" b="0" i="0">
                <a:solidFill>
                  <a:srgbClr val="FF4D6D"/>
                </a:solidFill>
                <a:latin typeface="Menlo"/>
                <a:ea typeface="Menlo"/>
                <a:cs typeface="Menlo"/>
              </a:rPr>
              <a:t>compound &lt;= -0.05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A18A1E-95C2-43B6-90B5-B600167AD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134100"/>
            <a:ext cx="1047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950" b="1" i="0">
                <a:solidFill>
                  <a:srgbClr val="FF4D6D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FF4D6D"/>
                </a:solidFill>
                <a:latin typeface="Avenir Next"/>
                <a:ea typeface="Avenir Next"/>
                <a:cs typeface="Avenir Next"/>
              </a:rPr>
              <a:t>negative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2B71BF5-AB23-4E7A-BBB6-D4C5C98FC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86250"/>
            <a:ext cx="89154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150" b="1" i="0">
                <a:solidFill>
                  <a:srgbClr val="45FFB3"/>
                </a:solidFill>
                <a:latin typeface="DIN Condensed"/>
                <a:ea typeface="DIN Condensed"/>
                <a:cs typeface="DIN Condensed"/>
              </a:defRPr>
            </a:pPr>
            <a:r>
              <a:rPr sz="3150" b="1" i="0">
                <a:solidFill>
                  <a:srgbClr val="45FFB3"/>
                </a:solidFill>
                <a:latin typeface="DIN Condensed"/>
                <a:ea typeface="DIN Condensed"/>
                <a:cs typeface="DIN Condensed"/>
              </a:rPr>
              <a:t>Output contract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92D146-2431-4FB3-8333-BA23A013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933950"/>
            <a:ext cx="891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{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398EBF-465D-4572-96B5-11E180A8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72100"/>
            <a:ext cx="891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EAF2F8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EAF2F8"/>
                </a:solidFill>
                <a:latin typeface="Menlo"/>
                <a:ea typeface="Menlo"/>
                <a:cs typeface="Menlo"/>
              </a:rPr>
              <a:t>  "text": "Bitcoin spot ETF inflows accelerate",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6ADC67-4E33-4BE9-8C8D-4B3A7718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810250"/>
            <a:ext cx="891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EAF2F8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EAF2F8"/>
                </a:solidFill>
                <a:latin typeface="Menlo"/>
                <a:ea typeface="Menlo"/>
                <a:cs typeface="Menlo"/>
              </a:rPr>
              <a:t>  "source": "CoinDesk",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AC9556-25C0-4653-BFFA-4595EF3D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267450"/>
            <a:ext cx="891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  "sentiment_score": 0.3182,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F0CC042-4BB6-4BA0-9BF3-3D2AAD43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705600"/>
            <a:ext cx="891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  "sentiment_label": "positive",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AF5F63-FC5C-4922-BFFC-5A1EB43F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7143750"/>
            <a:ext cx="891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EAF2F8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EAF2F8"/>
                </a:solidFill>
                <a:latin typeface="Menlo"/>
                <a:ea typeface="Menlo"/>
                <a:cs typeface="Menlo"/>
              </a:rPr>
              <a:t>  "asset": "BTC",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729332-83F3-4EC0-8EC3-91E22B5D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7600950"/>
            <a:ext cx="891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EAF2F8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EAF2F8"/>
                </a:solidFill>
                <a:latin typeface="Menlo"/>
                <a:ea typeface="Menlo"/>
                <a:cs typeface="Menlo"/>
              </a:rPr>
              <a:t>  "timestamp": "2026-04-26T07:00:00.000Z"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C36769-FC18-4BB4-82E5-1B827F08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039100"/>
            <a:ext cx="8915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FE2B514-211D-4EFA-BBCF-40D05015A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DFEC54-52FC-4829-A735-7F41032BA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935355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Educational decision-support signal, not financial advice</a:t>
            </a:r>
          </a:p>
        </p:txBody>
      </p:sp>
    </p:spTree>
    <p:extLst>
      <p:ext uri="{BB962C8B-B14F-4D97-AF65-F5344CB8AC3E}">
        <p14:creationId xmlns:p14="http://schemas.microsoft.com/office/powerpoint/2010/main" val="7214336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CA6A83E7-B5AE-48DB-8F9C-E4CA81822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E"/>
          </a:solidFill>
          <a:ln xmlns:a="http://schemas.openxmlformats.org/drawingml/2006/main" w="0">
            <a:solidFill>
              <a:srgbClr val="070A0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D1DD81-7F70-420A-A0BA-F75CBD73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25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B563B-54BC-4CE1-80C2-3D4D940E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48AA59-4309-4AEA-822C-AB1BDEB5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"/>
            <a:ext cx="15506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Persistence &amp; Aggregation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B5CD9417-1237-48CB-914B-B20E0CC1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57300"/>
            <a:ext cx="11525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MongoDB stores normalized headline events; the trend API converts raw scores into chart-ready sentiment percentages.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8DEFE4-F0F7-44B3-9319-FB46D97C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9320"/>
            <a:ext cx="6646735" cy="6787896"/>
          </a:xfrm>
          <a:prstGeom xmlns:a="http://schemas.openxmlformats.org/drawingml/2006/main" prst="roundRect">
            <a:avLst>
              <a:gd name="adj" fmla="val 1146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1A260D-DD32-4C1C-83B7-B00F8C1B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60388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7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27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NewsSentiment 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05640-F869-45C0-906F-B56EDA2C2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6038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EAF2F8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EAF2F8"/>
                </a:solidFill>
                <a:latin typeface="Menlo"/>
                <a:ea typeface="Menlo"/>
                <a:cs typeface="Menlo"/>
              </a:rPr>
              <a:t>text: String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141A56-1F57-4D7F-B5B0-4316538F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09950"/>
            <a:ext cx="6038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EAF2F8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EAF2F8"/>
                </a:solidFill>
                <a:latin typeface="Menlo"/>
                <a:ea typeface="Menlo"/>
                <a:cs typeface="Menlo"/>
              </a:rPr>
              <a:t>source: String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4647C-A7C0-423E-82B9-EB3035A6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6038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sentiment_score: Number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E34444-C0D4-4A0B-A18D-4464B81F0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29100"/>
            <a:ext cx="6038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FFD166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FFD166"/>
                </a:solidFill>
                <a:latin typeface="Menlo"/>
                <a:ea typeface="Menlo"/>
                <a:cs typeface="Menlo"/>
              </a:rPr>
              <a:t>sentiment_label: enum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CCFD87-46E7-4C06-86E6-54696BA0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6038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FFD166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FFD166"/>
                </a:solidFill>
                <a:latin typeface="Menlo"/>
                <a:ea typeface="Menlo"/>
                <a:cs typeface="Menlo"/>
              </a:rPr>
              <a:t>  "positive" | "neutral" | "negative"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281C96-ECB4-47C3-A127-B7895821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6038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4CC9F0"/>
                </a:solidFill>
                <a:latin typeface="Menlo"/>
                <a:ea typeface="Menlo"/>
                <a:cs typeface="Menlo"/>
              </a:rPr>
              <a:t>asset: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F3CB0-FA6A-4D79-B52B-0BDC2597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48300"/>
            <a:ext cx="6038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EAF2F8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EAF2F8"/>
                </a:solidFill>
                <a:latin typeface="Menlo"/>
                <a:ea typeface="Menlo"/>
                <a:cs typeface="Menlo"/>
              </a:rPr>
              <a:t>timestamp: 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594037-2797-474B-9653-3DB81E7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48350"/>
            <a:ext cx="6038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0">
            <a:solidFill>
              <a:srgbClr val="2432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C6CE7-DB29-43C5-9F09-9DA12BAD2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38850"/>
            <a:ext cx="6038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1" i="0">
                <a:solidFill>
                  <a:srgbClr val="45FFB3"/>
                </a:solidFill>
                <a:latin typeface="Avenir Next"/>
                <a:ea typeface="Avenir Next"/>
                <a:cs typeface="Avenir Next"/>
              </a:defRPr>
            </a:pPr>
            <a:r>
              <a:rPr sz="1875" b="1" i="0">
                <a:solidFill>
                  <a:srgbClr val="45FFB3"/>
                </a:solidFill>
                <a:latin typeface="Avenir Next"/>
                <a:ea typeface="Avenir Next"/>
                <a:cs typeface="Avenir Next"/>
              </a:rPr>
              <a:t>Deduplication index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B4B02E-A458-42D9-AD68-980D3997E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457950"/>
            <a:ext cx="6038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650" b="0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1650" b="0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{ text: 1, asset: 1 }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76FE9-2A14-4F6B-AABD-DF5CA2BE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3085" y="2179320"/>
            <a:ext cx="9564815" cy="6787896"/>
          </a:xfrm>
          <a:prstGeom xmlns:a="http://schemas.openxmlformats.org/drawingml/2006/main" prst="roundRect">
            <a:avLst>
              <a:gd name="adj" fmla="val 11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1245D5-7EE5-462B-A518-542BEBA1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00300"/>
            <a:ext cx="91059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10202A"/>
                </a:solidFill>
                <a:latin typeface="DIN Condensed"/>
                <a:ea typeface="DIN Condensed"/>
                <a:cs typeface="DIN Condensed"/>
              </a:defRPr>
            </a:pPr>
            <a:r>
              <a:rPr sz="2550" b="1" i="0">
                <a:solidFill>
                  <a:srgbClr val="10202A"/>
                </a:solidFill>
                <a:latin typeface="DIN Condensed"/>
                <a:ea typeface="DIN Condensed"/>
                <a:cs typeface="DIN Condensed"/>
              </a:rPr>
              <a:t>Trend aggregation example</a:t>
            </a:r>
          </a:p>
        </p:txBody>
      </p:sp>
      <p:graphicFrame>
        <p:nvGraphicFramePr>
          <p:cNvPr id="20" name="sentiment-trend-chart"/>
          <p:cNvGraphicFramePr/>
          <p:nvPr/>
        </p:nvGraphicFramePr>
        <p:xfrm>
          <a:off xmlns:a="http://schemas.openxmlformats.org/drawingml/2006/main" x="8151685" y="2910078"/>
          <a:ext xmlns:a="http://schemas.openxmlformats.org/drawingml/2006/main" cx="9107615" cy="5828538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da2636d9ca433c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EB5C7-C2BD-428D-B3D1-FDDB70A2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42E367-2010-422E-BCEE-71E4BB9D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935355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Educational decision-support signal, not financial advice</a:t>
            </a:r>
          </a:p>
        </p:txBody>
      </p:sp>
    </p:spTree>
    <p:extLst>
      <p:ext uri="{BB962C8B-B14F-4D97-AF65-F5344CB8AC3E}">
        <p14:creationId xmlns:p14="http://schemas.microsoft.com/office/powerpoint/2010/main" val="199730146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57A63D7B-C9A2-4F4A-B5EA-46689368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E"/>
          </a:solidFill>
          <a:ln xmlns:a="http://schemas.openxmlformats.org/drawingml/2006/main" w="0">
            <a:solidFill>
              <a:srgbClr val="070A0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D96F12-825E-4049-8225-C97B579D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25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B6026-F22C-4C5F-BFD2-B5531036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EC9E09-FC24-4824-8DDF-EC7BE003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"/>
            <a:ext cx="15506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Correlation Engine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1946451B-9D16-44A2-B4BF-70611FED6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57300"/>
            <a:ext cx="106108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The backend compares sentiment momentum and market movement over the same time window.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86608-6F7B-4034-9549-A368D5B0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11234"/>
            <a:ext cx="3562421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D206B-8BF8-44B7-9822-D08228954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04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Sentiment series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8FE56-0D52-4F1C-B3AE-909B943A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24250"/>
            <a:ext cx="31051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trend points from MongoDB aggregation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28BB7-F41B-4D27-9964-CDFDF9B07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009900"/>
            <a:ext cx="4191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7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27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5F68A-3097-417D-AE57-B55BD480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2535" y="3011234"/>
            <a:ext cx="3562421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41CA8-2BB1-442D-A048-104B9BF1E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2004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Delta sentiment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298B8-58EB-4709-867F-20843FDA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3105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last bucket - first bucket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3757EB-6785-4F09-95CA-DCFD645D9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09900"/>
            <a:ext cx="24765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15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315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90C2E5-C1E1-40E5-88A7-26B361618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3044" y="3011234"/>
            <a:ext cx="3562421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CC9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222DF5-40C3-455F-941C-D51F8684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2004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Price series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DF804A-3D4A-4602-83A0-76494685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24250"/>
            <a:ext cx="3105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CoinGecko or stable mock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75083-C050-44B3-8BC6-E6C86289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3009900"/>
            <a:ext cx="4191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7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27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DBA079-D67C-4BE7-92C4-95F6EF1F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479" y="3011234"/>
            <a:ext cx="3562421" cy="1088898"/>
          </a:xfrm>
          <a:prstGeom xmlns:a="http://schemas.openxmlformats.org/drawingml/2006/main" prst="roundRect">
            <a:avLst>
              <a:gd name="adj" fmla="val 6998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CC9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46632-E3D3-4328-B098-4E72EF77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3200400"/>
            <a:ext cx="31051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Delta price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2DEF69-9575-4FDD-8BD3-8C1EB155D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3524250"/>
            <a:ext cx="3105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current price movement percent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0662F2-A035-46E2-9287-51C2E29D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81132"/>
            <a:ext cx="16687800" cy="2119122"/>
          </a:xfrm>
          <a:prstGeom xmlns:a="http://schemas.openxmlformats.org/drawingml/2006/main" prst="roundRect">
            <a:avLst>
              <a:gd name="adj" fmla="val 3596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E94564-9862-4C4D-800C-0BE03A66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00600"/>
            <a:ext cx="15887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450" b="1" i="0">
                <a:solidFill>
                  <a:srgbClr val="45FFB3"/>
                </a:solidFill>
                <a:latin typeface="DIN Condensed"/>
                <a:ea typeface="DIN Condensed"/>
                <a:cs typeface="DIN Condensed"/>
              </a:defRPr>
            </a:pPr>
            <a:r>
              <a:rPr sz="3450" b="1" i="0">
                <a:solidFill>
                  <a:srgbClr val="45FFB3"/>
                </a:solidFill>
                <a:latin typeface="DIN Condensed"/>
                <a:ea typeface="DIN Condensed"/>
                <a:cs typeface="DIN Condensed"/>
              </a:rPr>
              <a:t>Comparator logic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98720-457F-45DB-9D89-7FE9E9F2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67350"/>
            <a:ext cx="15887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0" i="0">
                <a:solidFill>
                  <a:srgbClr val="EAF2F8"/>
                </a:solidFill>
                <a:latin typeface="Menlo"/>
                <a:ea typeface="Menlo"/>
                <a:cs typeface="Menlo"/>
              </a:defRPr>
            </a:pPr>
            <a:r>
              <a:rPr sz="2400" b="0" i="0">
                <a:solidFill>
                  <a:srgbClr val="EAF2F8"/>
                </a:solidFill>
                <a:latin typeface="Menlo"/>
                <a:ea typeface="Menlo"/>
                <a:cs typeface="Menlo"/>
              </a:rPr>
              <a:t>sign(Delta sentiment) == sign(Delta price) =&gt; positive correlation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27990B-285E-4ADC-97CB-D49199E59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981700"/>
            <a:ext cx="15887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10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signs diverge =&gt; sentiment-price divergence; both flat =&gt; sideways regime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320F97-E091-4777-83E7-243E03E0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81254"/>
            <a:ext cx="5435600" cy="896874"/>
          </a:xfrm>
          <a:prstGeom xmlns:a="http://schemas.openxmlformats.org/drawingml/2006/main" prst="roundRect">
            <a:avLst>
              <a:gd name="adj" fmla="val 849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9C8B4-3B33-4961-A1C3-443CA028A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1628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Positive correlation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61E914-69F9-419E-B4C6-96661E0D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4866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Narrative and price action are moving together.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A610F9-59C3-42C1-A5D8-5F6E6E37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6981254"/>
            <a:ext cx="5435600" cy="896874"/>
          </a:xfrm>
          <a:prstGeom xmlns:a="http://schemas.openxmlformats.org/drawingml/2006/main" prst="roundRect">
            <a:avLst>
              <a:gd name="adj" fmla="val 849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FF4D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F23185-BEBA-42B6-9700-A4CD124F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71628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Negative correlation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A7A576-43F1-4EA7-AD3E-E58019A6F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74866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Sentiment diverges from price movement.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6E69D5-FB9E-4057-9799-42255CBF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2300" y="6981254"/>
            <a:ext cx="5435600" cy="896874"/>
          </a:xfrm>
          <a:prstGeom xmlns:a="http://schemas.openxmlformats.org/drawingml/2006/main" prst="roundRect">
            <a:avLst>
              <a:gd name="adj" fmla="val 8496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FFD1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D09533-FA39-4A05-AE57-30E3F3199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162800"/>
            <a:ext cx="4972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Sideways regime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BE1FB6F-9FF9-4F3F-BD41-627C33B3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7486650"/>
            <a:ext cx="49720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Both signals are near-flat or low conviction.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B17103-8162-4205-B711-A8C43753C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27FC03-0F6A-40E1-A383-91C345D3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935355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Educational decision-support signal, not financial advice</a:t>
            </a:r>
          </a:p>
        </p:txBody>
      </p:sp>
    </p:spTree>
    <p:extLst>
      <p:ext uri="{BB962C8B-B14F-4D97-AF65-F5344CB8AC3E}">
        <p14:creationId xmlns:p14="http://schemas.microsoft.com/office/powerpoint/2010/main" val="63839793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5C4A254-A099-4DC2-A19F-87A4AE6A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E"/>
          </a:solidFill>
          <a:ln xmlns:a="http://schemas.openxmlformats.org/drawingml/2006/main" w="0">
            <a:solidFill>
              <a:srgbClr val="070A0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67FCA-1386-490B-8E50-3D7635C3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25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DC6F3-1A7E-4BCE-96ED-E4826010D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D7D435-C16A-40C5-B02D-CC2909D27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"/>
            <a:ext cx="15506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Rule-Based Signal Inference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49599BC9-A722-4CB0-B672-C047DFE5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57300"/>
            <a:ext cx="10858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The signal engine is intentionally transparent: every signal is derived from visible dashboard metrics.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941642-B974-487E-A33A-AB772B2F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5F36F-FFFB-4AB9-B56F-E960B7A0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699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Overall sentiment score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D682B3-906E-47EB-BEA2-D8F3C20A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67150"/>
            <a:ext cx="699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Normalized score becomes a 0-100% sentiment gauge.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3C2EA-69D1-451B-AC28-863981A5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E92D41-79C5-4CB4-87A5-3BD9AFCD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43400"/>
            <a:ext cx="699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Headline mix ratios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E51C9-7700-4581-A67A-0AC8E6B7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86300"/>
            <a:ext cx="699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Positive, neutral, and negative proportions act as evidence distribution.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E7F36-19C3-45B4-BACC-02760F8F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625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19459-828F-48E8-8B60-D6240784B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162550"/>
            <a:ext cx="699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Momentum vector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7EA55-3ACF-4B6F-8E97-87BA7B4F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505450"/>
            <a:ext cx="699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Latest trend point is compared against the opening trend point.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56ACE7-56D2-498C-A637-F160F9CA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817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88FF"/>
          </a:solidFill>
          <a:ln xmlns:a="http://schemas.openxmlformats.org/drawingml/2006/main" w="0">
            <a:solidFill>
              <a:srgbClr val="B38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252212-8385-4ABB-AD38-E8D13A81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981700"/>
            <a:ext cx="699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Price movement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51FB0-944C-4DA2-8419-7A77D680C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324600"/>
            <a:ext cx="699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Backend price delta keeps the signal tied to market structure.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326986-16B1-459A-A448-1E370804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008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597C0-631A-46D1-A81B-DB1470F4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800850"/>
            <a:ext cx="699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Correlation direction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7620A6-F20D-46D3-B623-1369F9D4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143750"/>
            <a:ext cx="69913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Divergence weakens conviction; alignment improves confidence.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BFFB8-7666-4A28-A22C-04520A5F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2980" y="3454146"/>
            <a:ext cx="8884920" cy="2718054"/>
          </a:xfrm>
          <a:prstGeom xmlns:a="http://schemas.openxmlformats.org/drawingml/2006/main" prst="roundRect">
            <a:avLst>
              <a:gd name="adj" fmla="val 2803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34B200-A331-460D-AAD3-587A7A40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52850"/>
            <a:ext cx="8191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3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Rule score thresholds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C6368E-19EE-4152-8605-52167CD1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2440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862AA9-3D65-4549-8168-BB2CC8B4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4724400"/>
            <a:ext cx="3886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00CDA5-6B6B-460D-A5BE-49CB0950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11400" y="4724400"/>
            <a:ext cx="2133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AFE5F-40BD-46D8-8A23-50D34E16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372100"/>
            <a:ext cx="1371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 i="0">
                <a:solidFill>
                  <a:srgbClr val="FF4D6D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FF4D6D"/>
                </a:solidFill>
                <a:latin typeface="Menlo"/>
                <a:ea typeface="Menlo"/>
                <a:cs typeface="Menlo"/>
              </a:rPr>
              <a:t>SELL &lt;= -4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ABD49F-8AFA-42A5-B724-5AE851DC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5372100"/>
            <a:ext cx="13716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00" b="1" i="0">
                <a:solidFill>
                  <a:srgbClr val="FFD166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FFD166"/>
                </a:solidFill>
                <a:latin typeface="Menlo"/>
                <a:ea typeface="Menlo"/>
                <a:cs typeface="Menlo"/>
              </a:rPr>
              <a:t>HOLD -3..3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B7B1DB-E81B-46F9-AA8B-3D609EF25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5372100"/>
            <a:ext cx="1104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180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BUY &gt;= 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F2601F-1D85-423B-B3BC-D4005E98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6457950"/>
            <a:ext cx="8877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2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22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Output: signal, tone, confidence, numeric score, reasons[], and disclaimer. This makes the system auditable during viva or demo evaluation.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E355B1-FDDE-4E37-8C5A-2E99C7CC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4CE3E1-3A8B-45D8-9C4A-55E3F757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935355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Educational decision-support signal, not financial advice</a:t>
            </a:r>
          </a:p>
        </p:txBody>
      </p:sp>
    </p:spTree>
    <p:extLst>
      <p:ext uri="{BB962C8B-B14F-4D97-AF65-F5344CB8AC3E}">
        <p14:creationId xmlns:p14="http://schemas.microsoft.com/office/powerpoint/2010/main" val="6430333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D953A787-9743-4181-A527-5F8C69AD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E"/>
          </a:solidFill>
          <a:ln xmlns:a="http://schemas.openxmlformats.org/drawingml/2006/main" w="0">
            <a:solidFill>
              <a:srgbClr val="070A0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58FDC-5433-4958-BF35-DCA86DAEA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25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D2C6EF-B28C-4A1F-8F41-08E8A2ED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11E7FD-568D-492E-9CA8-0FD4339D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"/>
            <a:ext cx="15506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Trading Surface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DE917533-5DA7-4E86-B785-10394515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57300"/>
            <a:ext cx="11963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The frontend is a compact single-screen trading dashboard optimized for scanning, comparison, and repeated refresh.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0DAE07-CEC9-4835-8582-C3506B27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9320"/>
            <a:ext cx="10558272" cy="4646054"/>
          </a:xfrm>
          <a:prstGeom xmlns:a="http://schemas.openxmlformats.org/drawingml/2006/main" prst="roundRect">
            <a:avLst>
              <a:gd name="adj" fmla="val 1640"/>
            </a:avLst>
          </a:prstGeom>
          <a:solidFill xmlns:a="http://schemas.openxmlformats.org/drawingml/2006/main">
            <a:srgbClr val="0A1016"/>
          </a:solidFill>
          <a:ln xmlns:a="http://schemas.openxmlformats.org/drawingml/2006/main" w="11430">
            <a:solidFill>
              <a:srgbClr val="4CC9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92E65-12C9-47EA-A90D-96ED9039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19350"/>
            <a:ext cx="1714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1" i="0">
                <a:solidFill>
                  <a:srgbClr val="4CC9F0"/>
                </a:solidFill>
                <a:latin typeface="DIN Condensed"/>
                <a:ea typeface="DIN Condensed"/>
                <a:cs typeface="DIN Condensed"/>
              </a:defRPr>
            </a:pPr>
            <a:r>
              <a:rPr sz="2400" b="1" i="0">
                <a:solidFill>
                  <a:srgbClr val="4CC9F0"/>
                </a:solidFill>
                <a:latin typeface="DIN Condensed"/>
                <a:ea typeface="DIN Condensed"/>
                <a:cs typeface="DIN Condensed"/>
              </a:rPr>
              <a:t>TradingView Chart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D2AD1E-9E0F-45BF-BAE8-F98BB7B74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647950"/>
            <a:ext cx="1828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500" b="0" i="0">
                <a:solidFill>
                  <a:srgbClr val="8EA4B8"/>
                </a:solidFill>
                <a:latin typeface="Menlo"/>
                <a:ea typeface="Menlo"/>
                <a:cs typeface="Menlo"/>
              </a:defRPr>
            </a:pPr>
            <a:r>
              <a:rPr sz="1500" b="0" i="0">
                <a:solidFill>
                  <a:srgbClr val="8EA4B8"/>
                </a:solidFill>
                <a:latin typeface="Menlo"/>
                <a:ea typeface="Menlo"/>
                <a:cs typeface="Menlo"/>
              </a:rPr>
              <a:t>BTC / ETH / AAPL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3F9DBB-88DF-4F76-9413-CA79017B1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0400"/>
            <a:ext cx="10058400" cy="33528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E1722"/>
              </a:gs>
              <a:gs pos="100000">
                <a:srgbClr val="081018"/>
              </a:gs>
            </a:gsLst>
            <a:lin ang="10800000"/>
          </a:gra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2A58C-FD52-48BC-8C0D-46B587F0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2179320"/>
            <a:ext cx="5939028" cy="1421685"/>
          </a:xfrm>
          <a:prstGeom xmlns:a="http://schemas.openxmlformats.org/drawingml/2006/main" prst="roundRect">
            <a:avLst>
              <a:gd name="adj" fmla="val 536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492A20-4550-4EDF-9622-88B8E426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362200"/>
            <a:ext cx="5486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Sentiment Gauge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CDC1A3-EF77-4C29-B4FE-BC5D97BB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686050"/>
            <a:ext cx="548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current sentiment percent and label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D16E04-32B4-4A98-85E3-C51915FC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3791505"/>
            <a:ext cx="5939028" cy="1421685"/>
          </a:xfrm>
          <a:prstGeom xmlns:a="http://schemas.openxmlformats.org/drawingml/2006/main" prst="roundRect">
            <a:avLst>
              <a:gd name="adj" fmla="val 536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FFD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B1EEE-58E0-4E27-B035-A2363E6B2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981450"/>
            <a:ext cx="5486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Correlation Insight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88C2A-7CB2-4ADD-B0F9-4C38DB37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305300"/>
            <a:ext cx="548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alignment or divergence explanation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24D82-E7B0-4D5A-8FC2-17CD4E0E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5403689"/>
            <a:ext cx="5939028" cy="1421685"/>
          </a:xfrm>
          <a:prstGeom xmlns:a="http://schemas.openxmlformats.org/drawingml/2006/main" prst="roundRect">
            <a:avLst>
              <a:gd name="adj" fmla="val 5360"/>
            </a:avLst>
          </a:prstGeom>
          <a:solidFill xmlns:a="http://schemas.openxmlformats.org/drawingml/2006/main">
            <a:srgbClr val="101820"/>
          </a:solidFill>
          <a:ln xmlns:a="http://schemas.openxmlformats.org/drawingml/2006/main" w="13335">
            <a:solidFill>
              <a:srgbClr val="4CC9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E0EFF7-D25B-4B2C-8DE2-E8AF9C71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600700"/>
            <a:ext cx="5486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Live News Feed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9B372-AF4D-4704-837D-3AE6CA84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924550"/>
            <a:ext cx="548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latest scored headlines with labels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E97024-905A-4C96-B548-6252EC78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015874"/>
            <a:ext cx="10558272" cy="1951342"/>
          </a:xfrm>
          <a:prstGeom xmlns:a="http://schemas.openxmlformats.org/drawingml/2006/main" prst="roundRect">
            <a:avLst>
              <a:gd name="adj" fmla="val 3905"/>
            </a:avLst>
          </a:prstGeom>
          <a:solidFill xmlns:a="http://schemas.openxmlformats.org/drawingml/2006/main">
            <a:srgbClr val="0A1016"/>
          </a:solidFill>
          <a:ln xmlns:a="http://schemas.openxmlformats.org/drawingml/2006/main" w="11430">
            <a:solidFill>
              <a:srgbClr val="45FFB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7529C4-8114-4C97-A699-55D97F45B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7829550"/>
            <a:ext cx="2857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1" i="0">
                <a:solidFill>
                  <a:srgbClr val="45FFB3"/>
                </a:solidFill>
                <a:latin typeface="DIN Condensed"/>
                <a:ea typeface="DIN Condensed"/>
                <a:cs typeface="DIN Condensed"/>
              </a:defRPr>
            </a:pPr>
            <a:r>
              <a:rPr sz="2400" b="1" i="0">
                <a:solidFill>
                  <a:srgbClr val="45FFB3"/>
                </a:solidFill>
                <a:latin typeface="DIN Condensed"/>
                <a:ea typeface="DIN Condensed"/>
                <a:cs typeface="DIN Condensed"/>
              </a:rPr>
              <a:t>Sentiment Trend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8FF087-CC9C-408E-B183-141748DB9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7467600"/>
            <a:ext cx="7010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D16"/>
          </a:soli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047A9-27A1-47B9-AE02-D3177729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8872" y="7015874"/>
            <a:ext cx="5939028" cy="1951342"/>
          </a:xfrm>
          <a:prstGeom xmlns:a="http://schemas.openxmlformats.org/drawingml/2006/main" prst="roundRect">
            <a:avLst>
              <a:gd name="adj" fmla="val 3905"/>
            </a:avLst>
          </a:prstGeom>
          <a:solidFill xmlns:a="http://schemas.openxmlformats.org/drawingml/2006/main">
            <a:srgbClr val="0A1016"/>
          </a:solidFill>
          <a:ln xmlns:a="http://schemas.openxmlformats.org/drawingml/2006/main" w="11430">
            <a:solidFill>
              <a:srgbClr val="FF4D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2935CA-0531-4A0C-85FC-8526EA42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7372350"/>
            <a:ext cx="5486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400" b="1" i="0">
                <a:solidFill>
                  <a:srgbClr val="FF4D6D"/>
                </a:solidFill>
                <a:latin typeface="DIN Condensed"/>
                <a:ea typeface="DIN Condensed"/>
                <a:cs typeface="DIN Condensed"/>
              </a:defRPr>
            </a:pPr>
            <a:r>
              <a:rPr sz="2400" b="1" i="0">
                <a:solidFill>
                  <a:srgbClr val="FF4D6D"/>
                </a:solidFill>
                <a:latin typeface="DIN Condensed"/>
                <a:ea typeface="DIN Condensed"/>
                <a:cs typeface="DIN Condensed"/>
              </a:rPr>
              <a:t>Market Metrics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78DAA5-5E17-46BC-A4F5-DA794088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7829550"/>
            <a:ext cx="54864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News volume | Positive ratio | Sentiment move | Price move | Trade signal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788877-11E9-488B-81A6-2DFC0E5E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8420100"/>
            <a:ext cx="548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425" b="0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1425" b="0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Socket event: "sentiment:update" every 30s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E5148C-FA85-402A-B793-02DED36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339407-22F2-40B6-B5B7-12164CFF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935355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Educational decision-support signal, not financial advice</a:t>
            </a:r>
          </a:p>
        </p:txBody>
      </p:sp>
    </p:spTree>
    <p:extLst>
      <p:ext uri="{BB962C8B-B14F-4D97-AF65-F5344CB8AC3E}">
        <p14:creationId xmlns:p14="http://schemas.microsoft.com/office/powerpoint/2010/main" val="54305107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FE548A27-E510-4A48-82BC-4CA225279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E"/>
          </a:solidFill>
          <a:ln xmlns:a="http://schemas.openxmlformats.org/drawingml/2006/main" w="0">
            <a:solidFill>
              <a:srgbClr val="070A0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D35FCD-EFB3-4715-A7E0-B98A1294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25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CDF368-D4EE-4A93-A56C-91731928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F3DD0F-FB43-474F-B06E-D8FA9E75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"/>
            <a:ext cx="15506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Technology Stack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A10FE50-991E-49ED-9EAE-5334ECD2E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57300"/>
            <a:ext cx="116776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The implementation uses a modern MERN-style architecture with event streaming and external market/news APIs.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526E5-8EB2-453C-A6BF-65EFFA3F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9320"/>
            <a:ext cx="16687800" cy="4376166"/>
          </a:xfrm>
          <a:prstGeom xmlns:a="http://schemas.openxmlformats.org/drawingml/2006/main" prst="roundRect">
            <a:avLst>
              <a:gd name="adj" fmla="val 1741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2432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951FBF-8634-4B62-B393-A7DF54BE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 i="0">
                <a:solidFill>
                  <a:srgbClr val="4CC9F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4CC9F0"/>
                </a:solidFill>
                <a:latin typeface="Avenir Next"/>
                <a:ea typeface="Avenir Next"/>
                <a:cs typeface="Avenir Next"/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30A005-C1E4-4A2A-A9B9-8FB0673FF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React, Vite, JSX, Tailwind CSS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222AD-2A8A-477C-872B-3A6A77CA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57450"/>
            <a:ext cx="788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Single-page fintech dashboard with responsive controls.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1935D-E688-4832-9C20-4DE78538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0">
            <a:solidFill>
              <a:srgbClr val="24324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787F2-2C1F-471D-8A37-35B4086A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80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 i="0">
                <a:solidFill>
                  <a:srgbClr val="45FFB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45FFB3"/>
                </a:solidFill>
                <a:latin typeface="Avenir Next"/>
                <a:ea typeface="Avenir Next"/>
                <a:cs typeface="Avenir Next"/>
              </a:rPr>
              <a:t>Visualization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A69672-6179-4DFE-A84A-E1950D1F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480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TradingView, Chart.js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360A0-E5B3-4EA8-81D2-4585B52F8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788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Live price UI plus sentiment trend rendering.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D0D76-34EA-4BD9-ADE3-95AEAF2F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671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0">
            <a:solidFill>
              <a:srgbClr val="24324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4445F-4211-410D-BCFF-2BBF8D63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576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 i="0">
                <a:solidFill>
                  <a:srgbClr val="FFD166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D166"/>
                </a:solidFill>
                <a:latin typeface="Avenir Next"/>
                <a:ea typeface="Avenir Next"/>
                <a:cs typeface="Avenir Next"/>
              </a:rPr>
              <a:t>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45FC84-504E-4629-A4C5-74E23CE0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576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Node.js, Express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64CA56-F9B6-479D-BE1F-461C1EAB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57600"/>
            <a:ext cx="788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REST controllers, service orchestration, API hardening.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B4AB1-9B41-4599-A1AC-D8173C580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5765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0">
            <a:solidFill>
              <a:srgbClr val="24324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4DE4B-2830-4373-900D-93810D31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 i="0">
                <a:solidFill>
                  <a:srgbClr val="B388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B388FF"/>
                </a:solidFill>
                <a:latin typeface="Avenir Next"/>
                <a:ea typeface="Avenir Next"/>
                <a:cs typeface="Avenir Next"/>
              </a:rPr>
              <a:t>Realtime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5404B-DD16-4CFC-831E-B2ED04B3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4815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Socket.io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EA227-80A8-4F52-91E0-5C13F829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248150"/>
            <a:ext cx="788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Pushes refreshed sentiment and correlation snapshots.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1EA763-46F3-4032-905B-2B194E16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6725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0">
            <a:solidFill>
              <a:srgbClr val="24324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B63C96-E78C-4E7D-BF0A-CDDC2C3E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85775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 i="0">
                <a:solidFill>
                  <a:srgbClr val="45FFB3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45FFB3"/>
                </a:solidFill>
                <a:latin typeface="Avenir Next"/>
                <a:ea typeface="Avenir Next"/>
                <a:cs typeface="Avenir Next"/>
              </a:rPr>
              <a:t>Data Layer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68488-3691-4F47-8897-A8623C23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5775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MongoDB Atlas, Mongoose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B8D32-CA24-40D2-BFC4-5E30D800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57750"/>
            <a:ext cx="788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Normalized sentiment persistence and duplicate prevention.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BCD8E-FC8E-4728-ADA6-76208DA0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578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0">
            <a:solidFill>
              <a:srgbClr val="24324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AAC9A-5AB5-44B4-A58E-9BAECDCA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483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 i="0">
                <a:solidFill>
                  <a:srgbClr val="FF4D6D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FF4D6D"/>
                </a:solidFill>
                <a:latin typeface="Avenir Next"/>
                <a:ea typeface="Avenir Next"/>
                <a:cs typeface="Avenir Next"/>
              </a:rPr>
              <a:t>External APIs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5FF2E7-F678-412A-ABA4-A29D61BB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54483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NewsAPI, CoinGecko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5948B6-100A-43B3-AB11-9F5FAA6B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448300"/>
            <a:ext cx="788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Headline ingestion and crypto price correlation data.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11F36F-DE5E-4F9A-B8B3-FCA04D399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867400"/>
            <a:ext cx="16078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1"/>
          </a:solidFill>
          <a:ln xmlns:a="http://schemas.openxmlformats.org/drawingml/2006/main" w="0">
            <a:solidFill>
              <a:srgbClr val="24324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4408DC-6671-472B-8E7F-B53FCB91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6057900"/>
            <a:ext cx="2476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00" b="1" i="0">
                <a:solidFill>
                  <a:srgbClr val="4CC9F0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 i="0">
                <a:solidFill>
                  <a:srgbClr val="4CC9F0"/>
                </a:solidFill>
                <a:latin typeface="Avenir Next"/>
                <a:ea typeface="Avenir Next"/>
                <a:cs typeface="Avenir Next"/>
              </a:rPr>
              <a:t>Deployment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F8ED1C-FE4C-4037-AFB4-86F858A7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6057900"/>
            <a:ext cx="533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1725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Render, Vercel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6D5677-AAA1-4DBD-AA01-4DD44B15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6057900"/>
            <a:ext cx="78867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Separate backend/frontend deployment with env-based CORS allowlist.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C192E32-831D-4D9D-B1DE-012D626E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84086"/>
            <a:ext cx="2303335" cy="33756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FFD1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78809F-EF5B-4DB4-81A9-716D61626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858000"/>
            <a:ext cx="19621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FFD166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FFD166"/>
                </a:solidFill>
                <a:latin typeface="Menlo"/>
                <a:ea typeface="Menlo"/>
                <a:cs typeface="Menlo"/>
              </a:rPr>
              <a:t>helmet + rate-limit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C72BFBC-C596-4D34-AD6C-32FF8A88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0655" y="6784086"/>
            <a:ext cx="1477708" cy="33756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4CC9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C37391-518E-43E0-AEF7-AE2EF685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858000"/>
            <a:ext cx="1143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4CC9F0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4CC9F0"/>
                </a:solidFill>
                <a:latin typeface="Menlo"/>
                <a:ea typeface="Menlo"/>
                <a:cs typeface="Menlo"/>
              </a:rPr>
              <a:t>compression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ACE035-814D-419B-AA54-C521DF01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5583" y="6784086"/>
            <a:ext cx="1684211" cy="33756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45FFB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55EB74-B6E3-47BB-9129-C1892C34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6858000"/>
            <a:ext cx="1333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mock fallback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01E875F-89E9-4369-BCDA-C076701C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7013" y="6784086"/>
            <a:ext cx="2096834" cy="33756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B388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450508-C0C6-4145-B498-ACDA840B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858000"/>
            <a:ext cx="1752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B388FF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B388FF"/>
                </a:solidFill>
                <a:latin typeface="Menlo"/>
                <a:ea typeface="Menlo"/>
                <a:cs typeface="Menlo"/>
              </a:rPr>
              <a:t>graceful shutdown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26CA70-4698-4C12-B0F9-7E4446FB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91067" y="6784086"/>
            <a:ext cx="2096833" cy="33756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9525">
            <a:solidFill>
              <a:srgbClr val="FF4D6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C90C5B8-0A31-441E-9E9A-F31FFEED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63850" y="6858000"/>
            <a:ext cx="17526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350" b="1" i="0">
                <a:solidFill>
                  <a:srgbClr val="FF4D6D"/>
                </a:solidFill>
                <a:latin typeface="Menlo"/>
                <a:ea typeface="Menlo"/>
                <a:cs typeface="Menlo"/>
              </a:defRPr>
            </a:pPr>
            <a:r>
              <a:rPr sz="1350" b="1" i="0">
                <a:solidFill>
                  <a:srgbClr val="FF4D6D"/>
                </a:solidFill>
                <a:latin typeface="Menlo"/>
                <a:ea typeface="Menlo"/>
                <a:cs typeface="Menlo"/>
              </a:rPr>
              <a:t>env-driven config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B31D688-07B0-4BEF-B851-7AD43347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C26189-DD1F-4C81-B4D4-B8890B17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935355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Educational decision-support signal, not financial advice</a:t>
            </a:r>
          </a:p>
        </p:txBody>
      </p:sp>
    </p:spTree>
    <p:extLst>
      <p:ext uri="{BB962C8B-B14F-4D97-AF65-F5344CB8AC3E}">
        <p14:creationId xmlns:p14="http://schemas.microsoft.com/office/powerpoint/2010/main" val="35576323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ackground">
            <a:extLst xmlns:a="http://schemas.openxmlformats.org/drawingml/2006/main">
              <a:ext uri="{FF2B5EF4-FFF2-40B4-BE49-F238E27FC236}">
                <a16:creationId xmlns:a16="http://schemas.microsoft.com/office/drawing/2014/main" id="{4FC1C755-F541-4A19-B28C-D84131B7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A0E"/>
          </a:solidFill>
          <a:ln xmlns:a="http://schemas.openxmlformats.org/drawingml/2006/main" w="0">
            <a:solidFill>
              <a:srgbClr val="070A0E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67B059-7401-4F8F-AFA8-7CB7A94C7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914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2550" b="1" i="0">
                <a:solidFill>
                  <a:srgbClr val="45FFB3"/>
                </a:solidFill>
                <a:latin typeface="Menlo"/>
                <a:ea typeface="Menlo"/>
                <a:cs typeface="Menlo"/>
              </a:defRPr>
            </a:pPr>
            <a:r>
              <a:rPr sz="2550" b="1" i="0">
                <a:solidFill>
                  <a:srgbClr val="45FFB3"/>
                </a:solidFill>
                <a:latin typeface="Menlo"/>
                <a:ea typeface="Menlo"/>
                <a:cs typeface="Menlo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5987A7-B7EF-4FAC-A6FB-34967E5B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7B7B75-4ED8-4AE9-B972-00817BFB7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90550"/>
            <a:ext cx="155067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defRPr>
            </a:pPr>
            <a:r>
              <a:rPr sz="4800" b="1" i="0">
                <a:solidFill>
                  <a:srgbClr val="EAF2F8"/>
                </a:solidFill>
                <a:latin typeface="DIN Condensed"/>
                <a:ea typeface="DIN Condensed"/>
                <a:cs typeface="DIN Condensed"/>
              </a:rPr>
              <a:t>Evaluation &amp; Future Scope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C09B34AD-7587-4432-ABF1-B086C3B9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1257300"/>
            <a:ext cx="11544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8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SentiTrade proves a complete real-time sentiment intelligence workflow while leaving clear upgrade paths.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58496-73A5-4683-893A-DE5427D4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24050"/>
            <a:ext cx="8115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300" b="1" i="0">
                <a:solidFill>
                  <a:srgbClr val="45FFB3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45FFB3"/>
                </a:solidFill>
                <a:latin typeface="DIN Condensed"/>
                <a:ea typeface="DIN Condensed"/>
                <a:cs typeface="DIN Condensed"/>
              </a:rPr>
              <a:t>Implemented outcomes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BA725C-0BCA-4613-B750-59588E39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C29EB-DAD8-4DAE-A191-A3B902E9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7829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End-to-end data path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A86A9-7D24-487E-ADA9-932F6D5A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71800"/>
            <a:ext cx="782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News ingestion -&gt; NLP scoring -&gt; persistence -&gt; aggregation -&gt; UI visualization.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C73354-8ED1-46AB-B6F1-8A2D993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9F0"/>
          </a:solidFill>
          <a:ln xmlns:a="http://schemas.openxmlformats.org/drawingml/2006/main" w="0">
            <a:solidFill>
              <a:srgbClr val="4CC9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CCDD6-915C-4F2C-AF6F-07AC2DE53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48050"/>
            <a:ext cx="7829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Explainable inference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15D10-C893-4064-AD7F-F4FF28589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90950"/>
            <a:ext cx="782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Signal reasons expose the heuristic decision trace.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332CEC-2E3C-4641-BE01-13C0D937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3C1511-660F-4004-9B45-E57ED946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67200"/>
            <a:ext cx="7829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Realtime refresh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1612BF-49F7-45E0-B128-47441F95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610100"/>
            <a:ext cx="782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Socket.io maintains a live dashboard without manual polling UX.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8B3459-C2A4-439C-9C6A-F231D5C0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88FF"/>
          </a:solidFill>
          <a:ln xmlns:a="http://schemas.openxmlformats.org/drawingml/2006/main" w="0">
            <a:solidFill>
              <a:srgbClr val="B388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1970A3-7163-4BB0-B530-87BFB780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86350"/>
            <a:ext cx="7829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Demo resilience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8B3242-B167-4FFB-9F46-6BD6A26BE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429250"/>
            <a:ext cx="782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Mock data path keeps the project presentable without API keys.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924A5-5E40-4C77-9534-28CAC8D6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24050"/>
            <a:ext cx="81153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3300" b="1" i="0">
                <a:solidFill>
                  <a:srgbClr val="4CC9F0"/>
                </a:solidFill>
                <a:latin typeface="DIN Condensed"/>
                <a:ea typeface="DIN Condensed"/>
                <a:cs typeface="DIN Condensed"/>
              </a:defRPr>
            </a:pPr>
            <a:r>
              <a:rPr sz="3300" b="1" i="0">
                <a:solidFill>
                  <a:srgbClr val="4CC9F0"/>
                </a:solidFill>
                <a:latin typeface="DIN Condensed"/>
                <a:ea typeface="DIN Condensed"/>
                <a:cs typeface="DIN Condensed"/>
              </a:rPr>
              <a:t>Future scope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D438B5-A754-4CC1-9A6C-3AE3C5C88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289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FFB3"/>
          </a:solidFill>
          <a:ln xmlns:a="http://schemas.openxmlformats.org/drawingml/2006/main" w="0">
            <a:solidFill>
              <a:srgbClr val="45FFB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5E72E5-CE8C-482E-BB23-2028529D1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628900"/>
            <a:ext cx="7829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Finance-specific transformer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8E0594-F7D5-4372-A21E-41F3B3BD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971800"/>
            <a:ext cx="782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Replace generic VADER with FinBERT-style domain sentiment.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DB27CC-6936-4EBC-804B-D86C2BB4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4480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FFD1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82D6F9-EA44-4CF4-B9A7-27348957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448050"/>
            <a:ext cx="7829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Backtesting module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0A5895-7FB7-43C0-8DB7-4E146316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90950"/>
            <a:ext cx="782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Validate signal behavior against historical price and news windows.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339C7-8E07-432C-9615-3078A874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2672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D6D"/>
          </a:solidFill>
          <a:ln xmlns:a="http://schemas.openxmlformats.org/drawingml/2006/main" w="0">
            <a:solidFill>
              <a:srgbClr val="FF4D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5E6DCE-55F1-4904-AD77-077A47CB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267200"/>
            <a:ext cx="7829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Risk engine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84E5D6-0077-472A-8C61-054AC88B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4610100"/>
            <a:ext cx="782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Add volatility, drawdown, and position-sizing constraints.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4EAFA86-2F7B-4BDF-B9AA-07C6BFDF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0863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88FF"/>
          </a:solidFill>
          <a:ln xmlns:a="http://schemas.openxmlformats.org/drawingml/2006/main" w="0">
            <a:solidFill>
              <a:srgbClr val="B388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8708AF-088D-4828-BD5C-F6B9CC42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86350"/>
            <a:ext cx="7829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6000"/>
              </a:lnSpc>
              <a:buNone/>
              <a:def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175" b="1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Broker sandbox integration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6FA7B3-18CF-4248-8AC9-11F655E5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429250"/>
            <a:ext cx="7829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8EA4B8"/>
                </a:solidFill>
                <a:latin typeface="Avenir Next"/>
                <a:ea typeface="Avenir Next"/>
                <a:cs typeface="Avenir Next"/>
              </a:rPr>
              <a:t>Simulate order execution while preserving educational boundaries.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1E518B-C929-4A46-A0FD-81639152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708392"/>
            <a:ext cx="16687800" cy="1258824"/>
          </a:xfrm>
          <a:prstGeom xmlns:a="http://schemas.openxmlformats.org/drawingml/2006/main" prst="roundRect">
            <a:avLst>
              <a:gd name="adj" fmla="val 6053"/>
            </a:avLst>
          </a:prstGeom>
          <a:solidFill xmlns:a="http://schemas.openxmlformats.org/drawingml/2006/main">
            <a:srgbClr val="0B1218"/>
          </a:solidFill>
          <a:ln xmlns:a="http://schemas.openxmlformats.org/drawingml/2006/main" w="13335">
            <a:solidFill>
              <a:srgbClr val="45FFB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A0EF7E-2406-4027-B476-467D74CE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981950"/>
            <a:ext cx="159258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12000"/>
              </a:lnSpc>
              <a:buNone/>
              <a:defRPr sz="2550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defRPr>
            </a:pPr>
            <a:r>
              <a:rPr sz="2550" b="0" i="0">
                <a:solidFill>
                  <a:srgbClr val="EAF2F8"/>
                </a:solidFill>
                <a:latin typeface="Avenir Next"/>
                <a:ea typeface="Avenir Next"/>
                <a:cs typeface="Avenir Next"/>
              </a:rPr>
              <a:t>Conclusion: SentiTrade converts noisy market narratives into an explainable, real-time decision-support layer that can be demonstrated, audited, and extended.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5B52CA4-E5AA-46CE-873D-AEBBC27A0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20193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SentiTrade BTP Project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8D2B4AD-00EC-4CEC-B872-A426026C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9353550"/>
            <a:ext cx="523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200" b="0" i="0">
                <a:solidFill>
                  <a:srgbClr val="536779"/>
                </a:solidFill>
                <a:latin typeface="Menlo"/>
                <a:ea typeface="Menlo"/>
                <a:cs typeface="Menlo"/>
              </a:defRPr>
            </a:pPr>
            <a:r>
              <a:rPr sz="1200" b="0" i="0">
                <a:solidFill>
                  <a:srgbClr val="536779"/>
                </a:solidFill>
                <a:latin typeface="Menlo"/>
                <a:ea typeface="Menlo"/>
                <a:cs typeface="Menlo"/>
              </a:rPr>
              <a:t>Educational decision-support signal, not financial advice</a:t>
            </a:r>
          </a:p>
        </p:txBody>
      </p:sp>
    </p:spTree>
    <p:extLst>
      <p:ext uri="{BB962C8B-B14F-4D97-AF65-F5344CB8AC3E}">
        <p14:creationId xmlns:p14="http://schemas.microsoft.com/office/powerpoint/2010/main" val="7374756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2026-04-26T08:33:55.3260000Z</dcterms:created>
  <dcterms:modified xsi:type="dcterms:W3CDTF">2026-04-26T08:33:55.3260000Z</dcterms:modified>
</coreProperties>
</file>